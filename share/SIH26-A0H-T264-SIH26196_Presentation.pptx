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7" r:id="rId5"/>
    <p:sldMasterId id="2147483659" r:id="rId6"/>
    <p:sldMasterId id="2147483661" r:id="rId7"/>
    <p:sldMasterId id="2147483663" r:id="rId8"/>
    <p:sldMasterId id="2147483664" r:id="rId9"/>
    <p:sldMasterId id="2147483665" r:id="rId10"/>
    <p:sldMasterId id="2147483666" r:id="rId11"/>
  </p:sldMasterIdLst>
  <p:notesMasterIdLst>
    <p:notesMasterId r:id="rId18"/>
  </p:notesMasterIdLst>
  <p:sldIdLst>
    <p:sldId id="256" r:id="rId12"/>
    <p:sldId id="257" r:id="rId13"/>
    <p:sldId id="258" r:id="rId14"/>
    <p:sldId id="259" r:id="rId15"/>
    <p:sldId id="260" r:id="rId16"/>
    <p:sldId id="261" r:id="rId1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10" Type="http://schemas.openxmlformats.org/officeDocument/2006/relationships/slideMaster" Target="slideMasters/slideMaster10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move the slide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Nimbus Sans"/>
              </a:rPr>
              <a:t>Click to edit the notes format</a:t>
            </a:r>
          </a:p>
        </p:txBody>
      </p:sp>
      <p:sp>
        <p:nvSpPr>
          <p:cNvPr id="7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&lt;header&gt;</a:t>
            </a:r>
          </a:p>
        </p:txBody>
      </p:sp>
      <p:sp>
        <p:nvSpPr>
          <p:cNvPr id="7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&lt;date/time&gt;</a:t>
            </a:r>
          </a:p>
        </p:txBody>
      </p:sp>
      <p:sp>
        <p:nvSpPr>
          <p:cNvPr id="8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&lt;footer&gt;</a:t>
            </a:r>
          </a:p>
        </p:txBody>
      </p:sp>
      <p:sp>
        <p:nvSpPr>
          <p:cNvPr id="8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r">
              <a:buNone/>
            </a:pPr>
            <a:fld id="{6C7DC68E-2035-4B7D-866A-393B90016B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BEA6851-9630-431F-B71E-56217811E41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Nimbus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F4E179-5080-4BC7-9170-682117A7665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Nimbus Roman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6F955C7-E724-41B1-96C1-D91B9DEE247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23B2376-81E1-4BFE-9759-A4651E17BC3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4413" cy="342900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3AC377F-C3EF-46DF-9FF1-C8664E8339CF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ＭＳ Ｐゴシック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0D02634-82BC-44D2-AA8E-D102A4C8926D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C129E7B-FC14-4355-AA60-B200562BFA51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F8EF5B01-9578-4CF5-9932-7261FFC1757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269356-8E6F-45C8-B86F-15AFDBAA99A2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2A8B333-E961-4006-A630-6A7E95C4D96A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6B9D56BC-1D66-48EC-BFCF-77C34211CC7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2023DBA6-0921-45AE-B2AA-D73B2C74D1E9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 defTabSz="457200">
              <a:buNone/>
              <a:tabLst>
                <a:tab pos="0" algn="l"/>
              </a:tabLst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 algn="l" defTabSz="457200"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E7215C43-8FA7-495A-8A2A-5DD60C7F0D0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8E9B50D-C199-457E-A482-47CCBC3ADB5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400" cy="1161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4800" cy="5852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400" cy="46904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AD49CEA-CAD2-47E5-AA14-5629738BEF5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480" cy="5659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4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480" cy="8042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20" name="PlaceHolder 6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622899-DF93-49C5-B7BD-C383522D5C47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600" cy="1469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0396661-BAD4-4CD9-B86A-E18D8B61C08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defRPr>
            </a:lvl7pPr>
          </a:lstStyle>
          <a:p>
            <a:pPr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Click to edit the outline text format</a:t>
            </a: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Second Outline Level</a:t>
            </a: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Third Outline Level</a:t>
            </a: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Fourth Outline Level</a:t>
            </a: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Fifth Outline Level</a:t>
            </a: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Sixth Outline Level</a:t>
            </a: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B0190CC-D5A2-4516-8839-41E9D966E4F3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480" cy="585072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 anchorCtr="1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5840" cy="585072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12BF0C2-9C2D-47BC-B4FC-F80F3AB4E4C9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80" y="1095480"/>
            <a:ext cx="10972080" cy="50299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indent="-32400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4487F1A-CE13-4D20-BFA0-1D2A0DA4EE82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600" cy="136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600" cy="14994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radeGothic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6825254-B1F9-489C-8544-B731C6ABB8AC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160" cy="45252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160" cy="45252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58826FA-4738-4EC9-A6F8-7A0B4BA668F6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320" cy="639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320" cy="3950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480" cy="63900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480" cy="3950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70" name="PlaceHolder 7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71" name="PlaceHolder 8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D897EE62-09E4-4AE3-9BF2-0AED74912BF5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radeGothic"/>
                <a:ea typeface="ＭＳ Ｐゴシック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5992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radeGothic"/>
              </a:rPr>
              <a:t>&lt;footer&gt;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1CA150E-D16D-4ADB-AC42-550A1F721490}" type="slidenum">
              <a:rPr lang="en-US" sz="1200" b="0" u="none" strike="noStrike">
                <a:solidFill>
                  <a:srgbClr val="898989"/>
                </a:solidFill>
                <a:effectLst/>
                <a:uFillTx/>
                <a:latin typeface="TradeGothic"/>
                <a:ea typeface="ＭＳ Ｐゴシック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Freeform: Shap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29400" y="1371600"/>
            <a:ext cx="4637880" cy="5154120"/>
          </a:xfrm>
          <a:custGeom>
            <a:avLst/>
            <a:gdLst>
              <a:gd name="textAreaLeft" fmla="*/ 0 w 4637880"/>
              <a:gd name="textAreaRight" fmla="*/ 4638600 w 4637880"/>
              <a:gd name="textAreaTop" fmla="*/ 0 h 5154120"/>
              <a:gd name="textAreaBottom" fmla="*/ 5154840 h 5154120"/>
              <a:gd name="GluePoint1X" fmla="*/ 363179 w 6184806"/>
              <a:gd name="GluePoint1Y" fmla="*/ 3125191 h 5154967"/>
              <a:gd name="GluePoint2X" fmla="*/ 898270 w 6184806"/>
              <a:gd name="GluePoint2Y" fmla="*/ 3125191 h 5154967"/>
              <a:gd name="GluePoint3X" fmla="*/ 980326 w 6184806"/>
              <a:gd name="GluePoint3Y" fmla="*/ 3173551 h 5154967"/>
              <a:gd name="GluePoint4X" fmla="*/ 1248448 w 6184806"/>
              <a:gd name="GluePoint4Y" fmla="*/ 3635277 h 5154967"/>
              <a:gd name="GluePoint5X" fmla="*/ 1248448 w 6184806"/>
              <a:gd name="GluePoint5Y" fmla="*/ 3729695 h 5154967"/>
              <a:gd name="GluePoint6X" fmla="*/ 980326 w 6184806"/>
              <a:gd name="GluePoint6Y" fmla="*/ 4191421 h 5154967"/>
              <a:gd name="GluePoint7X" fmla="*/ 898270 w 6184806"/>
              <a:gd name="GluePoint7Y" fmla="*/ 4239781 h 5154967"/>
              <a:gd name="GluePoint8X" fmla="*/ 363179 w 6184806"/>
              <a:gd name="GluePoint8Y" fmla="*/ 4239781 h 5154967"/>
              <a:gd name="GluePoint9X" fmla="*/ 279969 w 6184806"/>
              <a:gd name="GluePoint9Y" fmla="*/ 4191421 h 5154967"/>
              <a:gd name="GluePoint10X" fmla="*/ 13002 w 6184806"/>
              <a:gd name="GluePoint10Y" fmla="*/ 3729695 h 5154967"/>
              <a:gd name="GluePoint11X" fmla="*/ 13002 w 6184806"/>
              <a:gd name="GluePoint11Y" fmla="*/ 3635277 h 5154967"/>
              <a:gd name="GluePoint12X" fmla="*/ 279969 w 6184806"/>
              <a:gd name="GluePoint12Y" fmla="*/ 3173551 h 5154967"/>
              <a:gd name="GluePoint13X" fmla="*/ 363179 w 6184806"/>
              <a:gd name="GluePoint13Y" fmla="*/ 3125191 h 5154967"/>
              <a:gd name="GluePoint14X" fmla="*/ 2489721 w 6184806"/>
              <a:gd name="GluePoint14Y" fmla="*/ 570035 h 5154967"/>
              <a:gd name="GluePoint15X" fmla="*/ 2764862 w 6184806"/>
              <a:gd name="GluePoint15Y" fmla="*/ 570035 h 5154967"/>
              <a:gd name="GluePoint16X" fmla="*/ 2796959 w 6184806"/>
              <a:gd name="GluePoint16Y" fmla="*/ 570035 h 5154967"/>
              <a:gd name="GluePoint17X" fmla="*/ 2827587 w 6184806"/>
              <a:gd name="GluePoint17Y" fmla="*/ 622777 h 5154967"/>
              <a:gd name="GluePoint18X" fmla="*/ 2977604 w 6184806"/>
              <a:gd name="GluePoint18Y" fmla="*/ 881117 h 5154967"/>
              <a:gd name="GluePoint19X" fmla="*/ 2977604 w 6184806"/>
              <a:gd name="GluePoint19Y" fmla="*/ 1025720 h 5154967"/>
              <a:gd name="GluePoint20X" fmla="*/ 2566968 w 6184806"/>
              <a:gd name="GluePoint20Y" fmla="*/ 1732863 h 5154967"/>
              <a:gd name="GluePoint21X" fmla="*/ 2441299 w 6184806"/>
              <a:gd name="GluePoint21Y" fmla="*/ 1806927 h 5154967"/>
              <a:gd name="GluePoint22X" fmla="*/ 1621798 w 6184806"/>
              <a:gd name="GluePoint22Y" fmla="*/ 1806927 h 5154967"/>
              <a:gd name="GluePoint23X" fmla="*/ 1583218 w 6184806"/>
              <a:gd name="GluePoint23Y" fmla="*/ 1801802 h 5154967"/>
              <a:gd name="GluePoint24X" fmla="*/ 1556683 w 6184806"/>
              <a:gd name="GluePoint24Y" fmla="*/ 1790677 h 5154967"/>
              <a:gd name="GluePoint25X" fmla="*/ 1572899 w 6184806"/>
              <a:gd name="GluePoint25Y" fmla="*/ 1762630 h 5154967"/>
              <a:gd name="GluePoint26X" fmla="*/ 2147429 w 6184806"/>
              <a:gd name="GluePoint26Y" fmla="*/ 768968 h 5154967"/>
              <a:gd name="GluePoint27X" fmla="*/ 2489721 w 6184806"/>
              <a:gd name="GluePoint27Y" fmla="*/ 570035 h 5154967"/>
              <a:gd name="GluePoint28X" fmla="*/ 1573268 w 6184806"/>
              <a:gd name="GluePoint28Y" fmla="*/ 0 h 5154967"/>
              <a:gd name="GluePoint29X" fmla="*/ 2497662 w 6184806"/>
              <a:gd name="GluePoint29Y" fmla="*/ 0 h 5154967"/>
              <a:gd name="GluePoint30X" fmla="*/ 2639415 w 6184806"/>
              <a:gd name="GluePoint30Y" fmla="*/ 83546 h 5154967"/>
              <a:gd name="GluePoint31X" fmla="*/ 2887862 w 6184806"/>
              <a:gd name="GluePoint31Y" fmla="*/ 511387 h 5154967"/>
              <a:gd name="GluePoint32X" fmla="*/ 2915928 w 6184806"/>
              <a:gd name="GluePoint32Y" fmla="*/ 559720 h 5154967"/>
              <a:gd name="GluePoint33X" fmla="*/ 2893844 w 6184806"/>
              <a:gd name="GluePoint33Y" fmla="*/ 559720 h 5154967"/>
              <a:gd name="GluePoint34X" fmla="*/ 2789466 w 6184806"/>
              <a:gd name="GluePoint34Y" fmla="*/ 559720 h 5154967"/>
              <a:gd name="GluePoint35X" fmla="*/ 2744122 w 6184806"/>
              <a:gd name="GluePoint35Y" fmla="*/ 481634 h 5154967"/>
              <a:gd name="GluePoint36X" fmla="*/ 2570885 w 6184806"/>
              <a:gd name="GluePoint36Y" fmla="*/ 183309 h 5154967"/>
              <a:gd name="GluePoint37X" fmla="*/ 2445216 w 6184806"/>
              <a:gd name="GluePoint37Y" fmla="*/ 109243 h 5154967"/>
              <a:gd name="GluePoint38X" fmla="*/ 1625714 w 6184806"/>
              <a:gd name="GluePoint38Y" fmla="*/ 109243 h 5154967"/>
              <a:gd name="GluePoint39X" fmla="*/ 1498276 w 6184806"/>
              <a:gd name="GluePoint39Y" fmla="*/ 183309 h 5154967"/>
              <a:gd name="GluePoint40X" fmla="*/ 1089410 w 6184806"/>
              <a:gd name="GluePoint40Y" fmla="*/ 890450 h 5154967"/>
              <a:gd name="GluePoint41X" fmla="*/ 1089410 w 6184806"/>
              <a:gd name="GluePoint41Y" fmla="*/ 1035054 h 5154967"/>
              <a:gd name="GluePoint42X" fmla="*/ 1498276 w 6184806"/>
              <a:gd name="GluePoint42Y" fmla="*/ 1742196 h 5154967"/>
              <a:gd name="GluePoint43X" fmla="*/ 1552039 w 6184806"/>
              <a:gd name="GluePoint43Y" fmla="*/ 1796422 h 5154967"/>
              <a:gd name="GluePoint44X" fmla="*/ 1558260 w 6184806"/>
              <a:gd name="GluePoint44Y" fmla="*/ 1799029 h 5154967"/>
              <a:gd name="GluePoint45X" fmla="*/ 1524911 w 6184806"/>
              <a:gd name="GluePoint45Y" fmla="*/ 1856707 h 5154967"/>
              <a:gd name="GluePoint46X" fmla="*/ 1500108 w 6184806"/>
              <a:gd name="GluePoint46Y" fmla="*/ 1899604 h 5154967"/>
              <a:gd name="GluePoint47X" fmla="*/ 1525834 w 6184806"/>
              <a:gd name="GluePoint47Y" fmla="*/ 1910390 h 5154967"/>
              <a:gd name="GluePoint48X" fmla="*/ 1569352 w 6184806"/>
              <a:gd name="GluePoint48Y" fmla="*/ 1916170 h 5154967"/>
              <a:gd name="GluePoint49X" fmla="*/ 2493745 w 6184806"/>
              <a:gd name="GluePoint49Y" fmla="*/ 1916170 h 5154967"/>
              <a:gd name="GluePoint50X" fmla="*/ 2635498 w 6184806"/>
              <a:gd name="GluePoint50Y" fmla="*/ 1832627 h 5154967"/>
              <a:gd name="GluePoint51X" fmla="*/ 3098693 w 6184806"/>
              <a:gd name="GluePoint51Y" fmla="*/ 1034974 h 5154967"/>
              <a:gd name="GluePoint52X" fmla="*/ 3098693 w 6184806"/>
              <a:gd name="GluePoint52Y" fmla="*/ 871863 h 5154967"/>
              <a:gd name="GluePoint53X" fmla="*/ 2945803 w 6184806"/>
              <a:gd name="GluePoint53Y" fmla="*/ 608576 h 5154967"/>
              <a:gd name="GluePoint54X" fmla="*/ 2923422 w 6184806"/>
              <a:gd name="GluePoint54Y" fmla="*/ 570035 h 5154967"/>
              <a:gd name="GluePoint55X" fmla="*/ 3027104 w 6184806"/>
              <a:gd name="GluePoint55Y" fmla="*/ 570035 h 5154967"/>
              <a:gd name="GluePoint56X" fmla="*/ 4690846 w 6184806"/>
              <a:gd name="GluePoint56Y" fmla="*/ 570035 h 5154967"/>
              <a:gd name="GluePoint57X" fmla="*/ 5028384 w 6184806"/>
              <a:gd name="GluePoint57Y" fmla="*/ 768968 h 5154967"/>
              <a:gd name="GluePoint58X" fmla="*/ 6131323 w 6184806"/>
              <a:gd name="GluePoint58Y" fmla="*/ 2668304 h 5154967"/>
              <a:gd name="GluePoint59X" fmla="*/ 6131323 w 6184806"/>
              <a:gd name="GluePoint59Y" fmla="*/ 3056698 h 5154967"/>
              <a:gd name="GluePoint60X" fmla="*/ 5028384 w 6184806"/>
              <a:gd name="GluePoint60Y" fmla="*/ 4956035 h 5154967"/>
              <a:gd name="GluePoint61X" fmla="*/ 4690846 w 6184806"/>
              <a:gd name="GluePoint61Y" fmla="*/ 5154967 h 5154967"/>
              <a:gd name="GluePoint62X" fmla="*/ 2489721 w 6184806"/>
              <a:gd name="GluePoint62Y" fmla="*/ 5154967 h 5154967"/>
              <a:gd name="GluePoint63X" fmla="*/ 2147429 w 6184806"/>
              <a:gd name="GluePoint63Y" fmla="*/ 4956035 h 5154967"/>
              <a:gd name="GluePoint64X" fmla="*/ 1049243 w 6184806"/>
              <a:gd name="GluePoint64Y" fmla="*/ 3056698 h 5154967"/>
              <a:gd name="GluePoint65X" fmla="*/ 1049243 w 6184806"/>
              <a:gd name="GluePoint65Y" fmla="*/ 2668304 h 5154967"/>
              <a:gd name="GluePoint66X" fmla="*/ 1457007 w 6184806"/>
              <a:gd name="GluePoint66Y" fmla="*/ 1963067 h 5154967"/>
              <a:gd name="GluePoint67X" fmla="*/ 1491373 w 6184806"/>
              <a:gd name="GluePoint67Y" fmla="*/ 1903634 h 5154967"/>
              <a:gd name="GluePoint68X" fmla="*/ 1490164 w 6184806"/>
              <a:gd name="GluePoint68Y" fmla="*/ 1903127 h 5154967"/>
              <a:gd name="GluePoint69X" fmla="*/ 1429519 w 6184806"/>
              <a:gd name="GluePoint69Y" fmla="*/ 1841960 h 5154967"/>
              <a:gd name="GluePoint70X" fmla="*/ 968320 w 6184806"/>
              <a:gd name="GluePoint70Y" fmla="*/ 1044307 h 5154967"/>
              <a:gd name="GluePoint71X" fmla="*/ 968320 w 6184806"/>
              <a:gd name="GluePoint71Y" fmla="*/ 881196 h 5154967"/>
              <a:gd name="GluePoint72X" fmla="*/ 1429519 w 6184806"/>
              <a:gd name="GluePoint72Y" fmla="*/ 83546 h 5154967"/>
              <a:gd name="GluePoint73X" fmla="*/ 1573268 w 6184806"/>
              <a:gd name="GluePoint73Y" fmla="*/ 0 h 5154967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  <a:cxn ang="0">
                <a:pos x="GluePoint35X" y="GluePoint35Y"/>
              </a:cxn>
              <a:cxn ang="0">
                <a:pos x="GluePoint36X" y="GluePoint36Y"/>
              </a:cxn>
              <a:cxn ang="0">
                <a:pos x="GluePoint37X" y="GluePoint37Y"/>
              </a:cxn>
              <a:cxn ang="0">
                <a:pos x="GluePoint38X" y="GluePoint38Y"/>
              </a:cxn>
              <a:cxn ang="0">
                <a:pos x="GluePoint39X" y="GluePoint39Y"/>
              </a:cxn>
              <a:cxn ang="0">
                <a:pos x="GluePoint40X" y="GluePoint40Y"/>
              </a:cxn>
              <a:cxn ang="0">
                <a:pos x="GluePoint41X" y="GluePoint41Y"/>
              </a:cxn>
              <a:cxn ang="0">
                <a:pos x="GluePoint42X" y="GluePoint42Y"/>
              </a:cxn>
              <a:cxn ang="0">
                <a:pos x="GluePoint43X" y="GluePoint43Y"/>
              </a:cxn>
              <a:cxn ang="0">
                <a:pos x="GluePoint44X" y="GluePoint44Y"/>
              </a:cxn>
              <a:cxn ang="0">
                <a:pos x="GluePoint45X" y="GluePoint45Y"/>
              </a:cxn>
              <a:cxn ang="0">
                <a:pos x="GluePoint46X" y="GluePoint46Y"/>
              </a:cxn>
              <a:cxn ang="0">
                <a:pos x="GluePoint47X" y="GluePoint47Y"/>
              </a:cxn>
              <a:cxn ang="0">
                <a:pos x="GluePoint48X" y="GluePoint48Y"/>
              </a:cxn>
              <a:cxn ang="0">
                <a:pos x="GluePoint49X" y="GluePoint49Y"/>
              </a:cxn>
              <a:cxn ang="0">
                <a:pos x="GluePoint50X" y="GluePoint50Y"/>
              </a:cxn>
              <a:cxn ang="0">
                <a:pos x="GluePoint51X" y="GluePoint51Y"/>
              </a:cxn>
              <a:cxn ang="0">
                <a:pos x="GluePoint52X" y="GluePoint52Y"/>
              </a:cxn>
              <a:cxn ang="0">
                <a:pos x="GluePoint53X" y="GluePoint53Y"/>
              </a:cxn>
              <a:cxn ang="0">
                <a:pos x="GluePoint54X" y="GluePoint54Y"/>
              </a:cxn>
              <a:cxn ang="0">
                <a:pos x="GluePoint55X" y="GluePoint55Y"/>
              </a:cxn>
              <a:cxn ang="0">
                <a:pos x="GluePoint56X" y="GluePoint56Y"/>
              </a:cxn>
              <a:cxn ang="0">
                <a:pos x="GluePoint57X" y="GluePoint57Y"/>
              </a:cxn>
              <a:cxn ang="0">
                <a:pos x="GluePoint58X" y="GluePoint58Y"/>
              </a:cxn>
              <a:cxn ang="0">
                <a:pos x="GluePoint59X" y="GluePoint59Y"/>
              </a:cxn>
              <a:cxn ang="0">
                <a:pos x="GluePoint60X" y="GluePoint60Y"/>
              </a:cxn>
              <a:cxn ang="0">
                <a:pos x="GluePoint61X" y="GluePoint61Y"/>
              </a:cxn>
              <a:cxn ang="0">
                <a:pos x="GluePoint62X" y="GluePoint62Y"/>
              </a:cxn>
              <a:cxn ang="0">
                <a:pos x="GluePoint63X" y="GluePoint63Y"/>
              </a:cxn>
              <a:cxn ang="0">
                <a:pos x="GluePoint64X" y="GluePoint64Y"/>
              </a:cxn>
              <a:cxn ang="0">
                <a:pos x="GluePoint65X" y="GluePoint65Y"/>
              </a:cxn>
              <a:cxn ang="0">
                <a:pos x="GluePoint66X" y="GluePoint66Y"/>
              </a:cxn>
              <a:cxn ang="0">
                <a:pos x="GluePoint67X" y="GluePoint67Y"/>
              </a:cxn>
              <a:cxn ang="0">
                <a:pos x="GluePoint68X" y="GluePoint68Y"/>
              </a:cxn>
              <a:cxn ang="0">
                <a:pos x="GluePoint69X" y="GluePoint69Y"/>
              </a:cxn>
              <a:cxn ang="0">
                <a:pos x="GluePoint70X" y="GluePoint70Y"/>
              </a:cxn>
              <a:cxn ang="0">
                <a:pos x="GluePoint71X" y="GluePoint71Y"/>
              </a:cxn>
              <a:cxn ang="0">
                <a:pos x="GluePoint72X" y="GluePoint72Y"/>
              </a:cxn>
              <a:cxn ang="0">
                <a:pos x="GluePoint73X" y="GluePoint73Y"/>
              </a:cxn>
            </a:cxnLst>
            <a:rect l="textAreaLeft" t="textAreaTop" r="textAreaRight" b="textAreaBottom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dk1">
              <a:lumMod val="50000"/>
              <a:lumOff val="50000"/>
              <a:alpha val="15000"/>
            </a:schemeClr>
          </a:solidFill>
          <a:ln w="255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Picture 4"/>
          <p:cNvPicPr/>
          <p:nvPr/>
        </p:nvPicPr>
        <p:blipFill>
          <a:blip r:embed="rId2"/>
          <a:srcRect r="59916"/>
          <a:stretch/>
        </p:blipFill>
        <p:spPr>
          <a:xfrm>
            <a:off x="7827480" y="2235960"/>
            <a:ext cx="3202920" cy="342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PlaceHolder 1"/>
          <p:cNvSpPr>
            <a:spLocks noGrp="1"/>
          </p:cNvSpPr>
          <p:nvPr>
            <p:ph type="subTitle"/>
          </p:nvPr>
        </p:nvSpPr>
        <p:spPr>
          <a:xfrm>
            <a:off x="4098600" y="1143000"/>
            <a:ext cx="3150000" cy="6854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TITLE PAGE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title"/>
          </p:nvPr>
        </p:nvSpPr>
        <p:spPr>
          <a:xfrm>
            <a:off x="331200" y="-526680"/>
            <a:ext cx="10362600" cy="207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2"/>
                </a:solidFill>
                <a:effectLst/>
                <a:uFillTx/>
                <a:latin typeface="Garamond"/>
                <a:ea typeface="ＭＳ Ｐゴシック"/>
              </a:rPr>
              <a:t>SMART INDIA HACKATHON 2026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86" name="TextBox 9"/>
          <p:cNvSpPr/>
          <p:nvPr/>
        </p:nvSpPr>
        <p:spPr>
          <a:xfrm>
            <a:off x="331200" y="1828800"/>
            <a:ext cx="6755040" cy="421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ID –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SIH26196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Problem Statement Title-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Student Innovation-Ideas that can boost fitness activities and assist in keeping fit.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Theme-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Fitness &amp; Sports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85840" indent="-285840" defTabSz="457200">
              <a:lnSpc>
                <a:spcPct val="2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PS Category-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Software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85840" indent="-285840" defTabSz="457200">
              <a:lnSpc>
                <a:spcPct val="200000"/>
              </a:lnSpc>
              <a:spcBef>
                <a:spcPts val="57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ID-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SIH26-A0H-T264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85840" indent="-285840" defTabSz="457200">
              <a:lnSpc>
                <a:spcPct val="200000"/>
              </a:lnSpc>
              <a:spcBef>
                <a:spcPts val="57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Team Name -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ＭＳ Ｐゴシック"/>
              </a:rPr>
              <a:t>penguin.exe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pic>
        <p:nvPicPr>
          <p:cNvPr id="87" name="Picture 1"/>
          <p:cNvPicPr/>
          <p:nvPr/>
        </p:nvPicPr>
        <p:blipFill>
          <a:blip r:embed="rId3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"/>
          <p:cNvSpPr/>
          <p:nvPr/>
        </p:nvSpPr>
        <p:spPr>
          <a:xfrm>
            <a:off x="0" y="6534360"/>
            <a:ext cx="12191400" cy="322920"/>
          </a:xfrm>
          <a:prstGeom prst="rect">
            <a:avLst/>
          </a:prstGeom>
          <a:solidFill>
            <a:srgbClr val="0070C0"/>
          </a:solidFill>
          <a:ln w="9360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228600" y="0"/>
            <a:ext cx="10972080" cy="6854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FitVision 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ldNum" idx="37"/>
          </p:nvPr>
        </p:nvSpPr>
        <p:spPr>
          <a:xfrm>
            <a:off x="9130320" y="655020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32B341F-4AFF-4EFA-9573-35D57C566D2F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2</a:t>
            </a:fld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91" name="Oval 9" descr="Your startup LOGO"/>
          <p:cNvSpPr/>
          <p:nvPr/>
        </p:nvSpPr>
        <p:spPr>
          <a:xfrm>
            <a:off x="228600" y="252360"/>
            <a:ext cx="2057040" cy="661680"/>
          </a:xfrm>
          <a:prstGeom prst="ellipse">
            <a:avLst/>
          </a:prstGeom>
          <a:solidFill>
            <a:schemeClr val="lt1"/>
          </a:solidFill>
          <a:ln w="25560">
            <a:solidFill>
              <a:schemeClr val="accent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Penguin.exe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pic>
        <p:nvPicPr>
          <p:cNvPr id="92" name="Picture 10"/>
          <p:cNvPicPr/>
          <p:nvPr/>
        </p:nvPicPr>
        <p:blipFill>
          <a:blip r:embed="rId3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Picture 6" descr="image.png"/>
          <p:cNvPicPr/>
          <p:nvPr/>
        </p:nvPicPr>
        <p:blipFill>
          <a:blip r:embed="rId4"/>
          <a:stretch/>
        </p:blipFill>
        <p:spPr>
          <a:xfrm>
            <a:off x="400320" y="1257840"/>
            <a:ext cx="2723400" cy="339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Picture 7" descr="image.png"/>
          <p:cNvPicPr/>
          <p:nvPr/>
        </p:nvPicPr>
        <p:blipFill>
          <a:blip r:embed="rId5"/>
          <a:stretch/>
        </p:blipFill>
        <p:spPr>
          <a:xfrm>
            <a:off x="3285720" y="1268820"/>
            <a:ext cx="2799720" cy="339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Picture 15" descr="image.png"/>
          <p:cNvPicPr/>
          <p:nvPr/>
        </p:nvPicPr>
        <p:blipFill>
          <a:blip r:embed="rId6"/>
          <a:stretch/>
        </p:blipFill>
        <p:spPr>
          <a:xfrm>
            <a:off x="6169860" y="1466663"/>
            <a:ext cx="2628360" cy="134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" name="Picture 16" descr="image.png"/>
          <p:cNvPicPr/>
          <p:nvPr/>
        </p:nvPicPr>
        <p:blipFill>
          <a:blip r:embed="rId7"/>
          <a:stretch/>
        </p:blipFill>
        <p:spPr>
          <a:xfrm>
            <a:off x="9130320" y="1468720"/>
            <a:ext cx="2628360" cy="128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17" descr="image.png"/>
          <p:cNvPicPr/>
          <p:nvPr/>
        </p:nvPicPr>
        <p:blipFill>
          <a:blip r:embed="rId8"/>
          <a:stretch/>
        </p:blipFill>
        <p:spPr>
          <a:xfrm>
            <a:off x="6169860" y="3219773"/>
            <a:ext cx="2628360" cy="128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18" descr="image.png"/>
          <p:cNvPicPr/>
          <p:nvPr/>
        </p:nvPicPr>
        <p:blipFill>
          <a:blip r:embed="rId9"/>
          <a:stretch/>
        </p:blipFill>
        <p:spPr>
          <a:xfrm>
            <a:off x="9163320" y="3190499"/>
            <a:ext cx="2628360" cy="131414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20"/>
          <p:cNvSpPr/>
          <p:nvPr/>
        </p:nvSpPr>
        <p:spPr>
          <a:xfrm>
            <a:off x="6085440" y="1120500"/>
            <a:ext cx="275976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 dirty="0">
                <a:solidFill>
                  <a:srgbClr val="0284C7"/>
                </a:solidFill>
                <a:effectLst/>
                <a:uFillTx/>
                <a:latin typeface="Poppins"/>
              </a:rPr>
              <a:t>Why We Stand Out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6" name="TextBox 21"/>
          <p:cNvSpPr/>
          <p:nvPr/>
        </p:nvSpPr>
        <p:spPr>
          <a:xfrm>
            <a:off x="829080" y="1456920"/>
            <a:ext cx="223956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B91C1C"/>
                </a:solidFill>
                <a:effectLst/>
                <a:uFillTx/>
                <a:latin typeface="Poppins"/>
              </a:rPr>
              <a:t>Problem at Hand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7" name="Rectangle 22"/>
          <p:cNvSpPr/>
          <p:nvPr/>
        </p:nvSpPr>
        <p:spPr>
          <a:xfrm>
            <a:off x="562320" y="1781640"/>
            <a:ext cx="2399760" cy="18360"/>
          </a:xfrm>
          <a:prstGeom prst="rect">
            <a:avLst/>
          </a:prstGeom>
          <a:solidFill>
            <a:srgbClr val="FCA5A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3"/>
          <p:cNvSpPr/>
          <p:nvPr/>
        </p:nvSpPr>
        <p:spPr>
          <a:xfrm>
            <a:off x="4265100" y="1418670"/>
            <a:ext cx="223956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 dirty="0">
                <a:solidFill>
                  <a:srgbClr val="15803D"/>
                </a:solidFill>
                <a:effectLst/>
                <a:uFillTx/>
                <a:latin typeface="Poppins"/>
              </a:rPr>
              <a:t>Outcome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9" name="Rectangle 24"/>
          <p:cNvSpPr/>
          <p:nvPr/>
        </p:nvSpPr>
        <p:spPr>
          <a:xfrm>
            <a:off x="3462780" y="1730880"/>
            <a:ext cx="2399760" cy="18360"/>
          </a:xfrm>
          <a:prstGeom prst="rect">
            <a:avLst/>
          </a:prstGeom>
          <a:solidFill>
            <a:srgbClr val="86EFAC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6"/>
          <p:cNvSpPr/>
          <p:nvPr/>
        </p:nvSpPr>
        <p:spPr>
          <a:xfrm>
            <a:off x="752760" y="1895760"/>
            <a:ext cx="4680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1E293B"/>
                </a:solidFill>
                <a:effectLst/>
                <a:uFillTx/>
                <a:latin typeface="Roboto"/>
              </a:rPr>
              <a:t>•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1" name="TextBox 27"/>
          <p:cNvSpPr/>
          <p:nvPr/>
        </p:nvSpPr>
        <p:spPr>
          <a:xfrm>
            <a:off x="800640" y="1895760"/>
            <a:ext cx="2161440" cy="80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7520" tIns="0" rIns="0" bIns="0" anchor="t">
            <a:spAutoFit/>
          </a:bodyPr>
          <a:lstStyle/>
          <a:p>
            <a:pPr defTabSz="457200">
              <a:lnSpc>
                <a:spcPts val="1576"/>
              </a:lnSpc>
            </a:pPr>
            <a:r>
              <a:rPr lang="en-US" sz="1130" b="1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Lack of Guidance:</a:t>
            </a:r>
            <a:r>
              <a:rPr lang="en-US" sz="1130" b="0" u="none" strike="noStrike">
                <a:solidFill>
                  <a:srgbClr val="1E293B"/>
                </a:solidFill>
                <a:effectLst/>
                <a:uFillTx/>
                <a:latin typeface="Roboto"/>
              </a:rPr>
              <a:t> beginners perform workouts with incorrect posture, increasing the risk of physical injury.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2" name="TextBox 28"/>
          <p:cNvSpPr/>
          <p:nvPr/>
        </p:nvSpPr>
        <p:spPr>
          <a:xfrm>
            <a:off x="752760" y="2791080"/>
            <a:ext cx="4680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1E293B"/>
                </a:solidFill>
                <a:effectLst/>
                <a:uFillTx/>
                <a:latin typeface="Roboto"/>
              </a:rPr>
              <a:t>•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3" name="TextBox 29"/>
          <p:cNvSpPr/>
          <p:nvPr/>
        </p:nvSpPr>
        <p:spPr>
          <a:xfrm>
            <a:off x="800640" y="2791080"/>
            <a:ext cx="2161440" cy="80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7520" tIns="0" rIns="0" bIns="0" anchor="t">
            <a:spAutoFit/>
          </a:bodyPr>
          <a:lstStyle/>
          <a:p>
            <a:pPr defTabSz="457200">
              <a:lnSpc>
                <a:spcPts val="1576"/>
              </a:lnSpc>
            </a:pPr>
            <a:r>
              <a:rPr lang="en-US" sz="1130" b="1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Poor Tracking:</a:t>
            </a:r>
            <a:r>
              <a:rPr lang="en-US" sz="1130" b="0" u="none" strike="noStrike">
                <a:solidFill>
                  <a:srgbClr val="1E293B"/>
                </a:solidFill>
                <a:effectLst/>
                <a:uFillTx/>
                <a:latin typeface="Roboto"/>
              </a:rPr>
              <a:t> Keeping consistent manual logs of diets, weights,nutrients and actual physical changes is tedious.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4" name="TextBox 30"/>
          <p:cNvSpPr/>
          <p:nvPr/>
        </p:nvSpPr>
        <p:spPr>
          <a:xfrm>
            <a:off x="752760" y="3686400"/>
            <a:ext cx="4680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0" u="none" strike="noStrike">
                <a:solidFill>
                  <a:srgbClr val="1E293B"/>
                </a:solidFill>
                <a:effectLst/>
                <a:uFillTx/>
                <a:latin typeface="Roboto"/>
              </a:rPr>
              <a:t>•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5" name="TextBox 31"/>
          <p:cNvSpPr/>
          <p:nvPr/>
        </p:nvSpPr>
        <p:spPr>
          <a:xfrm>
            <a:off x="800640" y="3686400"/>
            <a:ext cx="2161440" cy="100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7520" tIns="0" rIns="0" bIns="0" anchor="t">
            <a:spAutoFit/>
          </a:bodyPr>
          <a:lstStyle/>
          <a:p>
            <a:pPr defTabSz="457200">
              <a:lnSpc>
                <a:spcPts val="1576"/>
              </a:lnSpc>
            </a:pPr>
            <a:r>
              <a:rPr lang="en-US" sz="1130" b="1" u="none" strike="noStrike">
                <a:solidFill>
                  <a:srgbClr val="000000"/>
                </a:solidFill>
                <a:effectLst/>
                <a:uFillTx/>
                <a:latin typeface="Roboto"/>
              </a:rPr>
              <a:t>Motivation Drop:</a:t>
            </a:r>
            <a:r>
              <a:rPr lang="en-US" sz="1130" b="0" u="none" strike="noStrike">
                <a:solidFill>
                  <a:srgbClr val="1E293B"/>
                </a:solidFill>
                <a:effectLst/>
                <a:uFillTx/>
                <a:latin typeface="Roboto"/>
              </a:rPr>
              <a:t> Without a clear visual representation of their hard work over time, students easily lose their fitness streaks.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6" name="TextBox 34"/>
          <p:cNvSpPr/>
          <p:nvPr/>
        </p:nvSpPr>
        <p:spPr>
          <a:xfrm>
            <a:off x="3462780" y="1815863"/>
            <a:ext cx="2161440" cy="28078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7520" tIns="0" rIns="0" bIns="0" anchor="t">
            <a:spAutoFit/>
          </a:bodyPr>
          <a:lstStyle/>
          <a:p>
            <a:pPr defTabSz="457200">
              <a:lnSpc>
                <a:spcPts val="1576"/>
              </a:lnSpc>
            </a:pPr>
            <a:r>
              <a:rPr lang="en-US" sz="1130" b="1" u="none" strike="noStrike" dirty="0">
                <a:solidFill>
                  <a:srgbClr val="000000"/>
                </a:solidFill>
                <a:effectLst/>
                <a:uFillTx/>
                <a:latin typeface="Roboto"/>
              </a:rPr>
              <a:t>Safety First:</a:t>
            </a:r>
            <a:r>
              <a:rPr lang="en-US" sz="1130" b="0" u="none" strike="noStrike" dirty="0">
                <a:solidFill>
                  <a:srgbClr val="1E293B"/>
                </a:solidFill>
                <a:effectLst/>
                <a:uFillTx/>
                <a:latin typeface="Roboto"/>
              </a:rPr>
              <a:t> Real-time computer vision powered tool that ensures correct exercise form without needing a personal trainer.</a:t>
            </a:r>
          </a:p>
          <a:p>
            <a:pPr defTabSz="457200">
              <a:lnSpc>
                <a:spcPts val="1576"/>
              </a:lnSpc>
            </a:pP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457200">
              <a:lnSpc>
                <a:spcPts val="1576"/>
              </a:lnSpc>
            </a:pPr>
            <a:r>
              <a:rPr lang="en-US" sz="1130" b="1" u="none" strike="noStrike" dirty="0">
                <a:solidFill>
                  <a:srgbClr val="000000"/>
                </a:solidFill>
                <a:effectLst/>
                <a:uFillTx/>
                <a:latin typeface="Roboto"/>
              </a:rPr>
              <a:t>Visual Motivation:</a:t>
            </a:r>
            <a:r>
              <a:rPr lang="en-US" sz="1130" b="0" u="none" strike="noStrike" dirty="0">
                <a:solidFill>
                  <a:srgbClr val="1E293B"/>
                </a:solidFill>
                <a:effectLst/>
                <a:uFillTx/>
                <a:latin typeface="Roboto"/>
              </a:rPr>
              <a:t> Time-lapse video showcase visually prove to users that their efforts are yielding real results.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defTabSz="457200">
              <a:lnSpc>
                <a:spcPts val="1576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130" b="1" u="none" strike="noStrike" dirty="0">
                <a:solidFill>
                  <a:srgbClr val="000000"/>
                </a:solidFill>
                <a:effectLst/>
                <a:uFillTx/>
                <a:latin typeface="Roboto"/>
              </a:rPr>
              <a:t>Unified Ecosystem:</a:t>
            </a:r>
            <a:r>
              <a:rPr lang="en-US" sz="1130" b="0" u="none" strike="noStrike" dirty="0">
                <a:solidFill>
                  <a:srgbClr val="1E293B"/>
                </a:solidFill>
                <a:effectLst/>
                <a:uFillTx/>
                <a:latin typeface="Roboto"/>
              </a:rPr>
              <a:t> Gamified streaks, tracking micronutrients &amp; macronutrients,  within a single platform.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7" name="TextBox 36"/>
          <p:cNvSpPr/>
          <p:nvPr/>
        </p:nvSpPr>
        <p:spPr>
          <a:xfrm>
            <a:off x="800640" y="6324840"/>
            <a:ext cx="216144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7520" tIns="0" rIns="0" bIns="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18" name="TextBox 38"/>
          <p:cNvSpPr/>
          <p:nvPr/>
        </p:nvSpPr>
        <p:spPr>
          <a:xfrm>
            <a:off x="800640" y="7220160"/>
            <a:ext cx="216144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7520" tIns="0" rIns="0" bIns="0" anchor="t">
            <a:spAutoFit/>
          </a:bodyPr>
          <a:lstStyle/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7" name="TextBox 55"/>
          <p:cNvSpPr/>
          <p:nvPr/>
        </p:nvSpPr>
        <p:spPr>
          <a:xfrm>
            <a:off x="6387913" y="1557530"/>
            <a:ext cx="190944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1" u="none" strike="noStrike" dirty="0">
                <a:solidFill>
                  <a:srgbClr val="1E293B"/>
                </a:solidFill>
                <a:effectLst/>
                <a:uFillTx/>
                <a:latin typeface="Poppins"/>
              </a:rPr>
              <a:t>Hardware-Free Tracking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8" name="TextBox 56"/>
          <p:cNvSpPr/>
          <p:nvPr/>
        </p:nvSpPr>
        <p:spPr>
          <a:xfrm>
            <a:off x="6387913" y="1926663"/>
            <a:ext cx="181872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267"/>
              </a:lnSpc>
            </a:pPr>
            <a:r>
              <a:rPr lang="en-US" sz="980" b="0" u="none" strike="noStrike" dirty="0">
                <a:solidFill>
                  <a:srgbClr val="475569"/>
                </a:solidFill>
                <a:effectLst/>
                <a:uFillTx/>
                <a:latin typeface="Roboto"/>
              </a:rPr>
              <a:t>No expensive wearables required. Achieves precision posture correction using standard smartphone cameras.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29" name="TextBox 58"/>
          <p:cNvSpPr/>
          <p:nvPr/>
        </p:nvSpPr>
        <p:spPr>
          <a:xfrm>
            <a:off x="6409080" y="3335283"/>
            <a:ext cx="190944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1" u="none" strike="noStrike" dirty="0">
                <a:solidFill>
                  <a:srgbClr val="1E293B"/>
                </a:solidFill>
                <a:effectLst/>
                <a:uFillTx/>
                <a:latin typeface="Poppins"/>
              </a:rPr>
              <a:t>Visual Progress AI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0" name="TextBox 59"/>
          <p:cNvSpPr/>
          <p:nvPr/>
        </p:nvSpPr>
        <p:spPr>
          <a:xfrm>
            <a:off x="6387913" y="3565817"/>
            <a:ext cx="1818720" cy="80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267"/>
              </a:lnSpc>
            </a:pPr>
            <a:r>
              <a:rPr lang="en-US" sz="980" b="0" u="none" strike="noStrike" dirty="0">
                <a:solidFill>
                  <a:srgbClr val="475569"/>
                </a:solidFill>
                <a:effectLst/>
                <a:uFillTx/>
                <a:latin typeface="Roboto"/>
              </a:rPr>
              <a:t>Moves beyond basic BMI numbers. Our AI correlates high/low progress periods directly to visible body transformation data.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1" name="TextBox 61"/>
          <p:cNvSpPr/>
          <p:nvPr/>
        </p:nvSpPr>
        <p:spPr>
          <a:xfrm>
            <a:off x="9244673" y="1594707"/>
            <a:ext cx="190944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1" u="none" strike="noStrike" dirty="0">
                <a:solidFill>
                  <a:srgbClr val="1E293B"/>
                </a:solidFill>
                <a:effectLst/>
                <a:uFillTx/>
                <a:latin typeface="Poppins"/>
              </a:rPr>
              <a:t>Smart Image Framing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2" name="TextBox 62"/>
          <p:cNvSpPr/>
          <p:nvPr/>
        </p:nvSpPr>
        <p:spPr>
          <a:xfrm>
            <a:off x="9258240" y="1854260"/>
            <a:ext cx="1818720" cy="80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267"/>
              </a:lnSpc>
            </a:pPr>
            <a:r>
              <a:rPr lang="en-US" sz="980" b="0" u="none" strike="noStrike" dirty="0">
                <a:solidFill>
                  <a:srgbClr val="475569"/>
                </a:solidFill>
                <a:effectLst/>
                <a:uFillTx/>
                <a:latin typeface="Roboto"/>
              </a:rPr>
              <a:t>The "Body Outline" overlay solves the common problem of misaligned progress photos, ensuring perfect time-lapse generation.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3" name="TextBox 64"/>
          <p:cNvSpPr/>
          <p:nvPr/>
        </p:nvSpPr>
        <p:spPr>
          <a:xfrm>
            <a:off x="9375107" y="3281926"/>
            <a:ext cx="1909440" cy="17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1" u="none" strike="noStrike" dirty="0">
                <a:solidFill>
                  <a:srgbClr val="1E293B"/>
                </a:solidFill>
                <a:effectLst/>
                <a:uFillTx/>
                <a:latin typeface="Poppins"/>
              </a:rPr>
              <a:t>Centralized database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34" name="TextBox 65"/>
          <p:cNvSpPr/>
          <p:nvPr/>
        </p:nvSpPr>
        <p:spPr>
          <a:xfrm>
            <a:off x="9381960" y="3552930"/>
            <a:ext cx="1818720" cy="64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ts val="1267"/>
              </a:lnSpc>
            </a:pPr>
            <a:r>
              <a:rPr lang="en-US" sz="980" b="0" u="none" strike="noStrike" dirty="0">
                <a:solidFill>
                  <a:srgbClr val="475569"/>
                </a:solidFill>
                <a:effectLst/>
                <a:uFillTx/>
                <a:latin typeface="Roboto"/>
              </a:rPr>
              <a:t>Seamlessly integrates authentication, streak logic, and relational logging data in a scalable cloud backend.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pic>
        <p:nvPicPr>
          <p:cNvPr id="50" name="Picture 9" descr="image.png">
            <a:extLst>
              <a:ext uri="{FF2B5EF4-FFF2-40B4-BE49-F238E27FC236}">
                <a16:creationId xmlns:a16="http://schemas.microsoft.com/office/drawing/2014/main" id="{8711DD53-333D-4767-9151-408E67463365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400320" y="4858200"/>
            <a:ext cx="2301627" cy="1483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Box 41">
            <a:extLst>
              <a:ext uri="{FF2B5EF4-FFF2-40B4-BE49-F238E27FC236}">
                <a16:creationId xmlns:a16="http://schemas.microsoft.com/office/drawing/2014/main" id="{42437931-A56E-4634-8370-F706017EAB96}"/>
              </a:ext>
            </a:extLst>
          </p:cNvPr>
          <p:cNvSpPr/>
          <p:nvPr/>
        </p:nvSpPr>
        <p:spPr>
          <a:xfrm>
            <a:off x="489240" y="4926147"/>
            <a:ext cx="1965246" cy="17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1" u="none" strike="noStrike" dirty="0">
                <a:solidFill>
                  <a:srgbClr val="0F172A"/>
                </a:solidFill>
                <a:effectLst/>
                <a:uFillTx/>
                <a:latin typeface="Poppins"/>
              </a:rPr>
              <a:t>1. Form Check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2" name="TextBox 42">
            <a:extLst>
              <a:ext uri="{FF2B5EF4-FFF2-40B4-BE49-F238E27FC236}">
                <a16:creationId xmlns:a16="http://schemas.microsoft.com/office/drawing/2014/main" id="{58720880-8DBB-4CD0-84FD-6B7C355729F0}"/>
              </a:ext>
            </a:extLst>
          </p:cNvPr>
          <p:cNvSpPr/>
          <p:nvPr/>
        </p:nvSpPr>
        <p:spPr>
          <a:xfrm>
            <a:off x="489240" y="5241815"/>
            <a:ext cx="2068998" cy="6579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1315"/>
              </a:lnSpc>
            </a:pPr>
            <a:r>
              <a:rPr lang="en-US" sz="980" b="0" u="none" strike="noStrike" dirty="0">
                <a:solidFill>
                  <a:srgbClr val="475569"/>
                </a:solidFill>
                <a:effectLst/>
                <a:uFillTx/>
                <a:latin typeface="Roboto"/>
              </a:rPr>
              <a:t>Utilizes advanced Computer Vision models with trained data to </a:t>
            </a:r>
            <a:r>
              <a:rPr lang="en-US" sz="980" b="1" u="none" strike="noStrike" dirty="0">
                <a:solidFill>
                  <a:srgbClr val="475569"/>
                </a:solidFill>
                <a:effectLst/>
                <a:uFillTx/>
                <a:latin typeface="Roboto"/>
              </a:rPr>
              <a:t>map skeletal points</a:t>
            </a:r>
            <a:r>
              <a:rPr lang="en-US" sz="980" b="0" u="none" strike="noStrike" dirty="0">
                <a:solidFill>
                  <a:srgbClr val="475569"/>
                </a:solidFill>
                <a:effectLst/>
                <a:uFillTx/>
                <a:latin typeface="Roboto"/>
              </a:rPr>
              <a:t> and verify exercise posture in real-time.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pic>
        <p:nvPicPr>
          <p:cNvPr id="53" name="Picture 13" descr="image.png">
            <a:extLst>
              <a:ext uri="{FF2B5EF4-FFF2-40B4-BE49-F238E27FC236}">
                <a16:creationId xmlns:a16="http://schemas.microsoft.com/office/drawing/2014/main" id="{6FD9006A-E2C4-4B65-A4EC-E0AA63AD8609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2958558" y="4879800"/>
            <a:ext cx="2426242" cy="144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" name="TextBox 43">
            <a:extLst>
              <a:ext uri="{FF2B5EF4-FFF2-40B4-BE49-F238E27FC236}">
                <a16:creationId xmlns:a16="http://schemas.microsoft.com/office/drawing/2014/main" id="{6426F927-29CC-41AA-9025-D0FCA45F7C98}"/>
              </a:ext>
            </a:extLst>
          </p:cNvPr>
          <p:cNvSpPr/>
          <p:nvPr/>
        </p:nvSpPr>
        <p:spPr>
          <a:xfrm>
            <a:off x="3047838" y="4948747"/>
            <a:ext cx="2125255" cy="17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1" u="none" strike="noStrike" dirty="0">
                <a:solidFill>
                  <a:srgbClr val="0F172A"/>
                </a:solidFill>
                <a:effectLst/>
                <a:uFillTx/>
                <a:latin typeface="Poppins"/>
              </a:rPr>
              <a:t>2. Guided Timelapse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5" name="TextBox 44">
            <a:extLst>
              <a:ext uri="{FF2B5EF4-FFF2-40B4-BE49-F238E27FC236}">
                <a16:creationId xmlns:a16="http://schemas.microsoft.com/office/drawing/2014/main" id="{3E2FD155-E307-4781-A03F-15E2B66262CC}"/>
              </a:ext>
            </a:extLst>
          </p:cNvPr>
          <p:cNvSpPr/>
          <p:nvPr/>
        </p:nvSpPr>
        <p:spPr>
          <a:xfrm>
            <a:off x="3047838" y="5260680"/>
            <a:ext cx="2180296" cy="6579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1315"/>
              </a:lnSpc>
            </a:pP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Roboto"/>
              </a:rPr>
              <a:t>Capture transformation logs assisted by a smart </a:t>
            </a:r>
            <a:r>
              <a:rPr lang="en-US" sz="980" b="1" u="none" strike="noStrike">
                <a:solidFill>
                  <a:srgbClr val="475569"/>
                </a:solidFill>
                <a:effectLst/>
                <a:uFillTx/>
                <a:latin typeface="Roboto"/>
              </a:rPr>
              <a:t>"body outline" UI</a:t>
            </a:r>
            <a:r>
              <a:rPr lang="en-US" sz="980" b="0" u="none" strike="noStrike">
                <a:solidFill>
                  <a:srgbClr val="475569"/>
                </a:solidFill>
                <a:effectLst/>
                <a:uFillTx/>
                <a:latin typeface="Roboto"/>
              </a:rPr>
              <a:t>. Auto-generates motivational progress slideshows.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pic>
        <p:nvPicPr>
          <p:cNvPr id="56" name="Picture 8" descr="image.png">
            <a:extLst>
              <a:ext uri="{FF2B5EF4-FFF2-40B4-BE49-F238E27FC236}">
                <a16:creationId xmlns:a16="http://schemas.microsoft.com/office/drawing/2014/main" id="{115BD001-A926-42FC-A957-C22475A0C958}"/>
              </a:ext>
            </a:extLst>
          </p:cNvPr>
          <p:cNvPicPr/>
          <p:nvPr/>
        </p:nvPicPr>
        <p:blipFill>
          <a:blip r:embed="rId10"/>
          <a:stretch/>
        </p:blipFill>
        <p:spPr>
          <a:xfrm>
            <a:off x="5591645" y="4882853"/>
            <a:ext cx="2321067" cy="145846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TextBox 39">
            <a:extLst>
              <a:ext uri="{FF2B5EF4-FFF2-40B4-BE49-F238E27FC236}">
                <a16:creationId xmlns:a16="http://schemas.microsoft.com/office/drawing/2014/main" id="{C6F45985-C317-4A54-9D5E-F39B34FC043F}"/>
              </a:ext>
            </a:extLst>
          </p:cNvPr>
          <p:cNvSpPr/>
          <p:nvPr/>
        </p:nvSpPr>
        <p:spPr>
          <a:xfrm>
            <a:off x="5662071" y="4986745"/>
            <a:ext cx="2140587" cy="34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1" u="none" strike="noStrike" dirty="0">
                <a:solidFill>
                  <a:srgbClr val="0F172A"/>
                </a:solidFill>
                <a:effectLst/>
                <a:uFillTx/>
                <a:latin typeface="Poppins"/>
              </a:rPr>
              <a:t> 3. Micro and macro </a:t>
            </a:r>
            <a:r>
              <a:rPr lang="en-US" sz="1130" b="1" dirty="0">
                <a:solidFill>
                  <a:srgbClr val="0F172A"/>
                </a:solidFill>
                <a:latin typeface="Poppins"/>
              </a:rPr>
              <a:t>           </a:t>
            </a:r>
            <a:r>
              <a:rPr lang="en-US" sz="1130" b="1" u="none" strike="noStrike" dirty="0">
                <a:solidFill>
                  <a:srgbClr val="0F172A"/>
                </a:solidFill>
                <a:effectLst/>
                <a:uFillTx/>
                <a:latin typeface="Poppins"/>
              </a:rPr>
              <a:t>nutrients track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58" name="TextBox 40">
            <a:extLst>
              <a:ext uri="{FF2B5EF4-FFF2-40B4-BE49-F238E27FC236}">
                <a16:creationId xmlns:a16="http://schemas.microsoft.com/office/drawing/2014/main" id="{CA3E8E28-9CFD-4B3F-9383-7F4D67F2D96B}"/>
              </a:ext>
            </a:extLst>
          </p:cNvPr>
          <p:cNvSpPr/>
          <p:nvPr/>
        </p:nvSpPr>
        <p:spPr>
          <a:xfrm>
            <a:off x="5648327" y="5481054"/>
            <a:ext cx="2085782" cy="3245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1315"/>
              </a:lnSpc>
            </a:pPr>
            <a:r>
              <a:rPr lang="en-US" sz="980" b="0" u="none" strike="noStrike" dirty="0">
                <a:solidFill>
                  <a:srgbClr val="475569"/>
                </a:solidFill>
                <a:effectLst/>
                <a:uFillTx/>
                <a:latin typeface="Roboto"/>
              </a:rPr>
              <a:t> quick-log daily weight, food taken and view gamified workout streaks.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pic>
        <p:nvPicPr>
          <p:cNvPr id="59" name="Picture 14" descr="image.png">
            <a:extLst>
              <a:ext uri="{FF2B5EF4-FFF2-40B4-BE49-F238E27FC236}">
                <a16:creationId xmlns:a16="http://schemas.microsoft.com/office/drawing/2014/main" id="{2894F7D8-FAD5-4326-9155-E4F5F7EF503F}"/>
              </a:ext>
            </a:extLst>
          </p:cNvPr>
          <p:cNvPicPr/>
          <p:nvPr/>
        </p:nvPicPr>
        <p:blipFill>
          <a:blip r:embed="rId11"/>
          <a:stretch/>
        </p:blipFill>
        <p:spPr>
          <a:xfrm>
            <a:off x="8119557" y="4872481"/>
            <a:ext cx="2422720" cy="145235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Box 45">
            <a:extLst>
              <a:ext uri="{FF2B5EF4-FFF2-40B4-BE49-F238E27FC236}">
                <a16:creationId xmlns:a16="http://schemas.microsoft.com/office/drawing/2014/main" id="{F1D8E81C-F1CA-4BEA-A8CB-AE0B3139BB32}"/>
              </a:ext>
            </a:extLst>
          </p:cNvPr>
          <p:cNvSpPr/>
          <p:nvPr/>
        </p:nvSpPr>
        <p:spPr>
          <a:xfrm>
            <a:off x="8261867" y="5012727"/>
            <a:ext cx="1571560" cy="17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30" b="1" u="none" strike="noStrike" dirty="0">
                <a:solidFill>
                  <a:srgbClr val="0F172A"/>
                </a:solidFill>
                <a:effectLst/>
                <a:uFillTx/>
                <a:latin typeface="Poppins"/>
              </a:rPr>
              <a:t>4. Friendly battle</a:t>
            </a:r>
            <a:endParaRPr lang="en-US" sz="113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61" name="TextBox 46">
            <a:extLst>
              <a:ext uri="{FF2B5EF4-FFF2-40B4-BE49-F238E27FC236}">
                <a16:creationId xmlns:a16="http://schemas.microsoft.com/office/drawing/2014/main" id="{84964651-D912-4A77-9C98-74EA75F48E2A}"/>
              </a:ext>
            </a:extLst>
          </p:cNvPr>
          <p:cNvSpPr/>
          <p:nvPr/>
        </p:nvSpPr>
        <p:spPr>
          <a:xfrm>
            <a:off x="8241990" y="5370894"/>
            <a:ext cx="2226875" cy="3245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 defTabSz="457200">
              <a:lnSpc>
                <a:spcPts val="1315"/>
              </a:lnSpc>
            </a:pPr>
            <a:r>
              <a:rPr lang="en-US" sz="980" b="0" u="none" strike="noStrike" dirty="0" err="1">
                <a:solidFill>
                  <a:srgbClr val="475569"/>
                </a:solidFill>
                <a:effectLst/>
                <a:uFillTx/>
                <a:latin typeface="Roboto"/>
              </a:rPr>
              <a:t>pvp</a:t>
            </a:r>
            <a:r>
              <a:rPr lang="en-US" sz="980" b="0" u="none" strike="noStrike" dirty="0">
                <a:solidFill>
                  <a:srgbClr val="475569"/>
                </a:solidFill>
                <a:effectLst/>
                <a:uFillTx/>
                <a:latin typeface="Roboto"/>
              </a:rPr>
              <a:t> for workout  (pushup, </a:t>
            </a:r>
            <a:r>
              <a:rPr lang="en-US" sz="980" b="0" u="none" strike="noStrike" dirty="0" err="1">
                <a:solidFill>
                  <a:srgbClr val="475569"/>
                </a:solidFill>
                <a:effectLst/>
                <a:uFillTx/>
                <a:latin typeface="Roboto"/>
              </a:rPr>
              <a:t>dumbell</a:t>
            </a:r>
            <a:r>
              <a:rPr lang="en-US" sz="980" b="0" u="none" strike="noStrike" dirty="0">
                <a:solidFill>
                  <a:srgbClr val="475569"/>
                </a:solidFill>
                <a:effectLst/>
                <a:uFillTx/>
                <a:latin typeface="Roboto"/>
              </a:rPr>
              <a:t>, etc., ) (with friends, online, pr)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6548040"/>
            <a:ext cx="12191760" cy="309600"/>
          </a:xfrm>
          <a:prstGeom prst="rect">
            <a:avLst/>
          </a:prstGeom>
          <a:solidFill>
            <a:srgbClr val="0070C0"/>
          </a:solidFill>
          <a:ln w="9360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chemeClr val="accent2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440" cy="114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TECHNICAL APPROACH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pic>
        <p:nvPicPr>
          <p:cNvPr id="137" name="Pipeline Diagram 1"/>
          <p:cNvPicPr/>
          <p:nvPr/>
        </p:nvPicPr>
        <p:blipFill>
          <a:blip r:embed="rId3"/>
          <a:stretch/>
        </p:blipFill>
        <p:spPr>
          <a:xfrm>
            <a:off x="7461720" y="1240920"/>
            <a:ext cx="2672640" cy="37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2"/>
          <p:cNvSpPr>
            <a:spLocks noGrp="1"/>
          </p:cNvSpPr>
          <p:nvPr>
            <p:ph type="sldNum" idx="38"/>
          </p:nvPr>
        </p:nvSpPr>
        <p:spPr>
          <a:xfrm>
            <a:off x="8798040" y="652050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52E5F0-1311-4011-899D-580AA0F0FF71}" type="slidenum">
              <a:rPr lang="en-US" sz="1200" b="1" u="none" strike="noStrike">
                <a:solidFill>
                  <a:schemeClr val="lt1"/>
                </a:solidFill>
                <a:effectLst/>
                <a:uFillTx/>
                <a:latin typeface="TradeGothic"/>
                <a:ea typeface="ＭＳ Ｐゴシック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39" name="Oval 5" descr="Your startup LOGO"/>
          <p:cNvSpPr/>
          <p:nvPr/>
        </p:nvSpPr>
        <p:spPr>
          <a:xfrm>
            <a:off x="161999" y="128880"/>
            <a:ext cx="1912333" cy="807120"/>
          </a:xfrm>
          <a:prstGeom prst="ellipse">
            <a:avLst/>
          </a:prstGeom>
          <a:solidFill>
            <a:schemeClr val="lt1"/>
          </a:solidFill>
          <a:ln w="25560">
            <a:solidFill>
              <a:schemeClr val="accent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 dirty="0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Penguin.exe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pic>
        <p:nvPicPr>
          <p:cNvPr id="140" name="Picture 3"/>
          <p:cNvPicPr/>
          <p:nvPr/>
        </p:nvPicPr>
        <p:blipFill>
          <a:blip r:embed="rId4"/>
          <a:stretch/>
        </p:blipFill>
        <p:spPr>
          <a:xfrm>
            <a:off x="9780120" y="1440"/>
            <a:ext cx="2249640" cy="1062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Picture 19"/>
          <p:cNvPicPr/>
          <p:nvPr/>
        </p:nvPicPr>
        <p:blipFill>
          <a:blip r:embed="rId5"/>
          <a:stretch/>
        </p:blipFill>
        <p:spPr>
          <a:xfrm>
            <a:off x="160200" y="1021320"/>
            <a:ext cx="7507080" cy="413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2" name="TextBox 1"/>
          <p:cNvSpPr/>
          <p:nvPr/>
        </p:nvSpPr>
        <p:spPr>
          <a:xfrm>
            <a:off x="49680" y="4837680"/>
            <a:ext cx="26211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sng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Tech Stack to be used :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3" name="TextBox 2"/>
          <p:cNvSpPr/>
          <p:nvPr/>
        </p:nvSpPr>
        <p:spPr>
          <a:xfrm>
            <a:off x="160200" y="5270760"/>
            <a:ext cx="2844360" cy="115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Mobile App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React Native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Vision Camera / CameraX (Android) &amp; AVFoundation (iOS)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4" name="TextBox 5"/>
          <p:cNvSpPr/>
          <p:nvPr/>
        </p:nvSpPr>
        <p:spPr>
          <a:xfrm>
            <a:off x="3115440" y="5041080"/>
            <a:ext cx="5958720" cy="1798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Pose Estimation &amp; Form Analysis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MediaPipe BlazePose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— real-time skeletal keypoint detection (33 landmarks)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TensorFlow Lite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— on-device model inference (low latency, offline-capable)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Rule-based joint-angle engine — computes angles (elbow, hip, knee, etc.) against per-exercise correct-form thresholds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LSTM / 1D-CNN classifier 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— form correctness classification,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5" name="TextBox 6"/>
          <p:cNvSpPr/>
          <p:nvPr/>
        </p:nvSpPr>
        <p:spPr>
          <a:xfrm>
            <a:off x="9184680" y="5207040"/>
            <a:ext cx="2766240" cy="94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AI Assistant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 LLM API (GPT)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(Optional) Vector DB (Pinecone)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6" name="TextBox 7"/>
          <p:cNvSpPr/>
          <p:nvPr/>
        </p:nvSpPr>
        <p:spPr>
          <a:xfrm>
            <a:off x="10036080" y="1426320"/>
            <a:ext cx="222876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Backend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Node.js (Express) or Python (FastAPI)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PostgreSQL (supabase)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Supabase-auth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7" name="TextBox 10"/>
          <p:cNvSpPr/>
          <p:nvPr/>
        </p:nvSpPr>
        <p:spPr>
          <a:xfrm>
            <a:off x="10046520" y="2624040"/>
            <a:ext cx="1982880" cy="191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Calorie &amp; Fitness Tracking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MET-based calorie calculation formulas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Google Fit / Apple HealthKit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Edamam / USDA FoodData Central API — nutrition/food logging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48" name="TextBox 11"/>
          <p:cNvSpPr/>
          <p:nvPr/>
        </p:nvSpPr>
        <p:spPr>
          <a:xfrm>
            <a:off x="10046520" y="4394880"/>
            <a:ext cx="198288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Storage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Local video save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  <a:p>
            <a:pPr marL="216000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 Supabase Storage / AWS S3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9"/>
          <p:cNvSpPr/>
          <p:nvPr/>
        </p:nvSpPr>
        <p:spPr>
          <a:xfrm>
            <a:off x="0" y="6412022"/>
            <a:ext cx="12191400" cy="445977"/>
          </a:xfrm>
          <a:prstGeom prst="rect">
            <a:avLst/>
          </a:prstGeom>
          <a:solidFill>
            <a:srgbClr val="0070C0"/>
          </a:solidFill>
          <a:ln w="9360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FEASIBILITY AND VIABILITY</a:t>
            </a:r>
            <a:endParaRPr lang="en-US" sz="3600" b="0" u="none" strike="noStrike" dirty="0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ldNum" idx="39"/>
          </p:nvPr>
        </p:nvSpPr>
        <p:spPr>
          <a:xfrm>
            <a:off x="9009243" y="6498152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110C0A0-6B87-43FB-AC0C-40684A5469BB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4</a:t>
            </a:fld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pic>
        <p:nvPicPr>
          <p:cNvPr id="154" name="Picture 10"/>
          <p:cNvPicPr/>
          <p:nvPr/>
        </p:nvPicPr>
        <p:blipFill>
          <a:blip r:embed="rId3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Oval 2" descr="Your startup LOGO"/>
          <p:cNvSpPr/>
          <p:nvPr/>
        </p:nvSpPr>
        <p:spPr>
          <a:xfrm>
            <a:off x="228960" y="252720"/>
            <a:ext cx="2057040" cy="661680"/>
          </a:xfrm>
          <a:prstGeom prst="ellipse">
            <a:avLst/>
          </a:prstGeom>
          <a:solidFill>
            <a:schemeClr val="lt1"/>
          </a:solidFill>
          <a:ln w="25560">
            <a:solidFill>
              <a:schemeClr val="accent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Penguin.exe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DDC1A3-92EE-4997-8046-1A4AEA55DAF4}"/>
              </a:ext>
            </a:extLst>
          </p:cNvPr>
          <p:cNvSpPr/>
          <p:nvPr/>
        </p:nvSpPr>
        <p:spPr>
          <a:xfrm>
            <a:off x="152400" y="1490133"/>
            <a:ext cx="3606800" cy="4487334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6698F3-1D83-4909-A9DF-609549C368B9}"/>
              </a:ext>
            </a:extLst>
          </p:cNvPr>
          <p:cNvSpPr/>
          <p:nvPr/>
        </p:nvSpPr>
        <p:spPr>
          <a:xfrm>
            <a:off x="8035986" y="1505379"/>
            <a:ext cx="4003614" cy="4487334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8BFE14-B6C6-42EA-BAE2-65264E2E39CA}"/>
              </a:ext>
            </a:extLst>
          </p:cNvPr>
          <p:cNvSpPr/>
          <p:nvPr/>
        </p:nvSpPr>
        <p:spPr>
          <a:xfrm>
            <a:off x="3999267" y="1490133"/>
            <a:ext cx="3705400" cy="4487334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3651F6-A01E-4D38-867D-35B1C9F6B194}"/>
              </a:ext>
            </a:extLst>
          </p:cNvPr>
          <p:cNvSpPr txBox="1"/>
          <p:nvPr/>
        </p:nvSpPr>
        <p:spPr>
          <a:xfrm>
            <a:off x="228960" y="1360819"/>
            <a:ext cx="337638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Core pose-estimation tech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MediaPipe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is mature, open-source, and runs on-device — no expensive infra needed for MVP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Native lets one team build both Android and iOS within hackathon/sprint timelines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Similar apps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Freeletics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Kemtai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validate market demand for AI form-correction fitness apps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Cloud services (Firebase) offer free tiers sufficient for prototype and early users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 APIs are plug-and-play for the AI assistant — no need to train a custom model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DF7770-AFF6-4671-AA68-B81C85DFB355}"/>
              </a:ext>
            </a:extLst>
          </p:cNvPr>
          <p:cNvSpPr txBox="1"/>
          <p:nvPr/>
        </p:nvSpPr>
        <p:spPr>
          <a:xfrm>
            <a:off x="4051518" y="1505379"/>
            <a:ext cx="352493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Pose detection accuracy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drops with poor lighting, loose clothing, or partial body visibility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Device performance variance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real-time inference may lag on low-end phones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Exercise coverage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every new exercise needs its own angle thresholds/training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 storage costs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scale with users if cloud backup is enabled by default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User privacy concerns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around storing workout videos with visible body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False positives/negatives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form feedback could frustrate users or reduce trust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2D8B54-5935-4586-972F-32570BD58C2E}"/>
              </a:ext>
            </a:extLst>
          </p:cNvPr>
          <p:cNvSpPr txBox="1"/>
          <p:nvPr/>
        </p:nvSpPr>
        <p:spPr>
          <a:xfrm>
            <a:off x="8077988" y="1323095"/>
            <a:ext cx="3775255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on-screen positioning guides so users frame themselves correctly before starting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 model size (quantized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TFLite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models) and offer adjustable frame-rate for low-end devices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Launch with 2–3 well-tuned exercises (e.g., push-up,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pulldown), expand iteratively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 cloud video backup opt-in, with local-only storage as default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Encrypt stored videos and let users delete them anytime; process pose data locally, don't upload raw video for analysis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Continuously refine thresholds using real user feedback and a "flag incorrect feedback" button to improve the model over time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4F174F-06C6-485D-803C-155F514CDBF1}"/>
              </a:ext>
            </a:extLst>
          </p:cNvPr>
          <p:cNvSpPr txBox="1"/>
          <p:nvPr/>
        </p:nvSpPr>
        <p:spPr>
          <a:xfrm>
            <a:off x="651597" y="110268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Analysis of Feasibility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6BD8FD-298B-47B9-B2CF-B08FC9604102}"/>
              </a:ext>
            </a:extLst>
          </p:cNvPr>
          <p:cNvSpPr txBox="1"/>
          <p:nvPr/>
        </p:nvSpPr>
        <p:spPr>
          <a:xfrm>
            <a:off x="4051518" y="1087435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Potential Challenges and Risks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04CC97-F58B-47B9-9EA0-EC23936E63BB}"/>
              </a:ext>
            </a:extLst>
          </p:cNvPr>
          <p:cNvSpPr txBox="1"/>
          <p:nvPr/>
        </p:nvSpPr>
        <p:spPr>
          <a:xfrm>
            <a:off x="8034328" y="1094760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Strategies to overcome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9"/>
          <p:cNvSpPr/>
          <p:nvPr/>
        </p:nvSpPr>
        <p:spPr>
          <a:xfrm>
            <a:off x="0" y="6451788"/>
            <a:ext cx="12191400" cy="405492"/>
          </a:xfrm>
          <a:prstGeom prst="rect">
            <a:avLst/>
          </a:prstGeom>
          <a:solidFill>
            <a:srgbClr val="0070C0"/>
          </a:solidFill>
          <a:ln w="9360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IMPACT AND BENEFITS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sldNum" idx="41"/>
          </p:nvPr>
        </p:nvSpPr>
        <p:spPr>
          <a:xfrm>
            <a:off x="8737560" y="6472374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08BFEF6-5236-4499-B624-F33830C1A8B0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5</a:t>
            </a:fld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pic>
        <p:nvPicPr>
          <p:cNvPr id="161" name="Picture 10"/>
          <p:cNvPicPr/>
          <p:nvPr/>
        </p:nvPicPr>
        <p:blipFill>
          <a:blip r:embed="rId3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Oval 3" descr="Your startup LOGO"/>
          <p:cNvSpPr/>
          <p:nvPr/>
        </p:nvSpPr>
        <p:spPr>
          <a:xfrm>
            <a:off x="228960" y="252720"/>
            <a:ext cx="2057040" cy="661680"/>
          </a:xfrm>
          <a:prstGeom prst="ellipse">
            <a:avLst/>
          </a:prstGeom>
          <a:solidFill>
            <a:schemeClr val="lt1"/>
          </a:solidFill>
          <a:ln w="25560">
            <a:solidFill>
              <a:schemeClr val="accent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Penguin.exe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18C1B4-BB0A-4DE8-9DD2-F92149A7E536}"/>
              </a:ext>
            </a:extLst>
          </p:cNvPr>
          <p:cNvSpPr/>
          <p:nvPr/>
        </p:nvSpPr>
        <p:spPr>
          <a:xfrm>
            <a:off x="134983" y="1753552"/>
            <a:ext cx="3606800" cy="4487334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7A21CA-01CA-41C8-B9E0-664AFBF89050}"/>
              </a:ext>
            </a:extLst>
          </p:cNvPr>
          <p:cNvSpPr txBox="1"/>
          <p:nvPr/>
        </p:nvSpPr>
        <p:spPr>
          <a:xfrm>
            <a:off x="228960" y="1665147"/>
            <a:ext cx="339042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beginners exercise with correct form from day one, reducing injury risk without needing a personal trainer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Makes structured, guided fitness accessible to people who can't afford gyms or trainers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Builds consistency through tracking, feedback, and AI-driven motivation — reducing workout dropout rates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Empowers home-workout users (students, working professionals, homemakers) with gym-level guidance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people in remote/underserved areas with no access to fitness coaching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FEF4CD-BEBB-4F17-8ED5-4C1BB73B9109}"/>
              </a:ext>
            </a:extLst>
          </p:cNvPr>
          <p:cNvSpPr txBox="1"/>
          <p:nvPr/>
        </p:nvSpPr>
        <p:spPr>
          <a:xfrm>
            <a:off x="134983" y="993388"/>
            <a:ext cx="3390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Potential Impact on the Target Audience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19213C6-A7CC-468D-BF8D-8F1A41F07E0E}"/>
              </a:ext>
            </a:extLst>
          </p:cNvPr>
          <p:cNvSpPr/>
          <p:nvPr/>
        </p:nvSpPr>
        <p:spPr>
          <a:xfrm>
            <a:off x="4180115" y="1176914"/>
            <a:ext cx="3131554" cy="24975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Encourages healthier lifestyle habits and long-term behavior change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Reduces exercise-related injuries from improper form </a:t>
            </a:r>
          </a:p>
          <a:p>
            <a:pPr marL="342900" indent="-342900" algn="ctr">
              <a:buFont typeface="+mj-lt"/>
              <a:buAutoNum type="arabicPeriod"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AF61081-ECA1-40DC-8E8F-1A0CE2C4FA94}"/>
              </a:ext>
            </a:extLst>
          </p:cNvPr>
          <p:cNvSpPr/>
          <p:nvPr/>
        </p:nvSpPr>
        <p:spPr>
          <a:xfrm>
            <a:off x="8737560" y="3895614"/>
            <a:ext cx="3131554" cy="24975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Early detection of poor form reduces musculoskeletal injuries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Encourages regular physical activity, contributing to better long-term public health outcomes </a:t>
            </a:r>
          </a:p>
          <a:p>
            <a:pPr algn="ctr"/>
            <a:endParaRPr lang="en-US" sz="1400" dirty="0"/>
          </a:p>
          <a:p>
            <a:pPr algn="ctr"/>
            <a:endParaRPr lang="en-US" sz="14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6B632C2-F73B-4105-BB32-35AC63963849}"/>
              </a:ext>
            </a:extLst>
          </p:cNvPr>
          <p:cNvSpPr/>
          <p:nvPr/>
        </p:nvSpPr>
        <p:spPr>
          <a:xfrm>
            <a:off x="8737560" y="1208594"/>
            <a:ext cx="3236897" cy="246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Saves users the recurring cost of personal trainers or premium gym memberships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Creates opportunity for a freemium/subscription business model (advanced plans, detailed analytics) </a:t>
            </a:r>
          </a:p>
          <a:p>
            <a:pPr marL="228600" indent="-228600" algn="ctr">
              <a:buFont typeface="+mj-lt"/>
              <a:buAutoNum type="arabicPeriod"/>
            </a:pPr>
            <a:endParaRPr lang="en-US" sz="12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57722A7-F534-4EA3-8632-A5756F3C3766}"/>
              </a:ext>
            </a:extLst>
          </p:cNvPr>
          <p:cNvSpPr/>
          <p:nvPr/>
        </p:nvSpPr>
        <p:spPr>
          <a:xfrm>
            <a:off x="4180115" y="3800253"/>
            <a:ext cx="3131554" cy="24975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Promotes home workouts, reducing commute-related travel to gyms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Reduces dependency on physical infrastructure (gym equipment, buildings) </a:t>
            </a:r>
          </a:p>
          <a:p>
            <a:pPr algn="ctr"/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182849-DDFD-4FBF-9110-D2BA2B03C803}"/>
              </a:ext>
            </a:extLst>
          </p:cNvPr>
          <p:cNvSpPr txBox="1"/>
          <p:nvPr/>
        </p:nvSpPr>
        <p:spPr>
          <a:xfrm>
            <a:off x="7515501" y="345064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Benefits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1D9124-81A6-44A0-BD4D-3844115B208F}"/>
              </a:ext>
            </a:extLst>
          </p:cNvPr>
          <p:cNvCxnSpPr>
            <a:stCxn id="14" idx="1"/>
            <a:endCxn id="5" idx="6"/>
          </p:cNvCxnSpPr>
          <p:nvPr/>
        </p:nvCxnSpPr>
        <p:spPr>
          <a:xfrm flipH="1" flipV="1">
            <a:off x="7311669" y="2425689"/>
            <a:ext cx="203832" cy="1209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F432C6B-5133-45C5-89E9-9F2319B65107}"/>
              </a:ext>
            </a:extLst>
          </p:cNvPr>
          <p:cNvCxnSpPr>
            <a:cxnSpLocks/>
            <a:stCxn id="14" idx="3"/>
            <a:endCxn id="16" idx="2"/>
          </p:cNvCxnSpPr>
          <p:nvPr/>
        </p:nvCxnSpPr>
        <p:spPr>
          <a:xfrm flipV="1">
            <a:off x="8533728" y="2441529"/>
            <a:ext cx="203832" cy="11937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9F868E-BFFA-4211-94A2-D54CB72EEBEA}"/>
              </a:ext>
            </a:extLst>
          </p:cNvPr>
          <p:cNvCxnSpPr>
            <a:stCxn id="14" idx="1"/>
            <a:endCxn id="17" idx="6"/>
          </p:cNvCxnSpPr>
          <p:nvPr/>
        </p:nvCxnSpPr>
        <p:spPr>
          <a:xfrm flipH="1">
            <a:off x="7311669" y="3635312"/>
            <a:ext cx="203832" cy="1413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242CD52-993B-4027-BA20-ED34A96CA5A8}"/>
              </a:ext>
            </a:extLst>
          </p:cNvPr>
          <p:cNvCxnSpPr>
            <a:stCxn id="14" idx="3"/>
            <a:endCxn id="15" idx="2"/>
          </p:cNvCxnSpPr>
          <p:nvPr/>
        </p:nvCxnSpPr>
        <p:spPr>
          <a:xfrm>
            <a:off x="8533728" y="3635312"/>
            <a:ext cx="203832" cy="15090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6A3215B-380D-47C7-B464-FE067C128A6B}"/>
              </a:ext>
            </a:extLst>
          </p:cNvPr>
          <p:cNvSpPr txBox="1"/>
          <p:nvPr/>
        </p:nvSpPr>
        <p:spPr>
          <a:xfrm rot="4764029">
            <a:off x="7177138" y="2785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social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646DBF-F88A-4571-96BE-E4134D56AF39}"/>
              </a:ext>
            </a:extLst>
          </p:cNvPr>
          <p:cNvSpPr txBox="1"/>
          <p:nvPr/>
        </p:nvSpPr>
        <p:spPr>
          <a:xfrm rot="16949781">
            <a:off x="7921453" y="2800651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economic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F5CFEF-77D0-4703-B239-BC7EB1396B54}"/>
              </a:ext>
            </a:extLst>
          </p:cNvPr>
          <p:cNvSpPr txBox="1"/>
          <p:nvPr/>
        </p:nvSpPr>
        <p:spPr>
          <a:xfrm rot="16698399">
            <a:off x="7010746" y="4290512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environmental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0E70701-E377-46AB-BDA3-CE7C2A463382}"/>
              </a:ext>
            </a:extLst>
          </p:cNvPr>
          <p:cNvSpPr txBox="1"/>
          <p:nvPr/>
        </p:nvSpPr>
        <p:spPr>
          <a:xfrm rot="15811216">
            <a:off x="8030700" y="426084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Rectangle 9"/>
          <p:cNvSpPr/>
          <p:nvPr/>
        </p:nvSpPr>
        <p:spPr>
          <a:xfrm>
            <a:off x="0" y="6354720"/>
            <a:ext cx="12191400" cy="502560"/>
          </a:xfrm>
          <a:prstGeom prst="rect">
            <a:avLst/>
          </a:prstGeom>
          <a:solidFill>
            <a:srgbClr val="0070C0"/>
          </a:solidFill>
          <a:ln w="9360">
            <a:noFill/>
          </a:ln>
          <a:effectLst>
            <a:outerShdw dist="23040" dir="5400000" rotWithShape="0">
              <a:srgbClr val="80808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1800" b="0" u="none" strike="noStrike">
              <a:solidFill>
                <a:srgbClr val="953735"/>
              </a:solidFill>
              <a:effectLst/>
              <a:uFillTx/>
              <a:latin typeface="Calibri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-47520"/>
            <a:ext cx="10972080" cy="11422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ＭＳ Ｐゴシック"/>
              </a:rPr>
              <a:t>RESEARCH  AND REFERENCES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TradeGothic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sldNum" idx="43"/>
          </p:nvPr>
        </p:nvSpPr>
        <p:spPr>
          <a:xfrm>
            <a:off x="8737560" y="6356520"/>
            <a:ext cx="2844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numCol="1" spcCol="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8916B10-3774-4889-9C25-C5961264DF49}" type="slidenum"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TradeGothic"/>
                <a:ea typeface="ＭＳ Ｐゴシック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ftr" idx="44"/>
          </p:nvPr>
        </p:nvSpPr>
        <p:spPr>
          <a:xfrm>
            <a:off x="4648320" y="6356520"/>
            <a:ext cx="32032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TradeGothic"/>
              </a:rPr>
              <a:t>@SIH Idea submission- Template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Nimbus Roman"/>
            </a:endParaRPr>
          </a:p>
        </p:txBody>
      </p:sp>
      <p:pic>
        <p:nvPicPr>
          <p:cNvPr id="168" name="Picture 11"/>
          <p:cNvPicPr/>
          <p:nvPr/>
        </p:nvPicPr>
        <p:blipFill>
          <a:blip r:embed="rId3"/>
          <a:stretch/>
        </p:blipFill>
        <p:spPr>
          <a:xfrm>
            <a:off x="9780120" y="1440"/>
            <a:ext cx="2249280" cy="10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Oval 4" descr="Your startup LOGO"/>
          <p:cNvSpPr/>
          <p:nvPr/>
        </p:nvSpPr>
        <p:spPr>
          <a:xfrm>
            <a:off x="228960" y="252720"/>
            <a:ext cx="2057040" cy="661680"/>
          </a:xfrm>
          <a:prstGeom prst="ellipse">
            <a:avLst/>
          </a:prstGeom>
          <a:solidFill>
            <a:schemeClr val="lt1"/>
          </a:solidFill>
          <a:ln w="25560">
            <a:solidFill>
              <a:schemeClr val="accent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ＭＳ Ｐゴシック"/>
              </a:rPr>
              <a:t>Penguin.exe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4C7E0F-4146-446C-9792-274CCF62F6E0}"/>
              </a:ext>
            </a:extLst>
          </p:cNvPr>
          <p:cNvSpPr txBox="1"/>
          <p:nvPr/>
        </p:nvSpPr>
        <p:spPr>
          <a:xfrm>
            <a:off x="2785494" y="1614907"/>
            <a:ext cx="6096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400" dirty="0"/>
              <a:t>Van Every, Derrick &amp; Lees, Matthew &amp; Wilson, Brandan &amp; </a:t>
            </a:r>
            <a:r>
              <a:rPr lang="en-US" sz="1400" dirty="0" err="1"/>
              <a:t>Nippard</a:t>
            </a:r>
            <a:r>
              <a:rPr lang="en-US" sz="1400" dirty="0"/>
              <a:t>, Jeff &amp; Phillips, Stuart. (2025). Load-induced human skeletal muscle hypertrophy: Mechanisms, myths, and misconceptions. Journal of Sport and Health Science. 15. 101104. 10.1016/j.jshs.2025.101104. 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 err="1"/>
              <a:t>Androulakis</a:t>
            </a:r>
            <a:r>
              <a:rPr lang="en-US" sz="1400" dirty="0"/>
              <a:t> </a:t>
            </a:r>
            <a:r>
              <a:rPr lang="en-US" sz="1400" dirty="0" err="1"/>
              <a:t>Korakakis</a:t>
            </a:r>
            <a:r>
              <a:rPr lang="en-US" sz="1400" dirty="0"/>
              <a:t>, </a:t>
            </a:r>
            <a:r>
              <a:rPr lang="en-US" sz="1400" dirty="0" err="1"/>
              <a:t>Patroklos</a:t>
            </a:r>
            <a:r>
              <a:rPr lang="en-US" sz="1400" dirty="0"/>
              <a:t> &amp; Wolf, Milo &amp; Coleman, Max &amp; Burke, Ryan &amp; </a:t>
            </a:r>
            <a:r>
              <a:rPr lang="en-US" sz="1400" dirty="0" err="1"/>
              <a:t>Piñero</a:t>
            </a:r>
            <a:r>
              <a:rPr lang="en-US" sz="1400" dirty="0"/>
              <a:t>, Alec &amp; </a:t>
            </a:r>
            <a:r>
              <a:rPr lang="en-US" sz="1400" dirty="0" err="1"/>
              <a:t>Nippard</a:t>
            </a:r>
            <a:r>
              <a:rPr lang="en-US" sz="1400" dirty="0"/>
              <a:t>, Jeff &amp; Schoenfeld, Brad. (2023). Optimizing Resistance Training Technique to Maximize Muscle Hypertrophy: A Narrative Review. Journal of Functional Morphology and Kinesiology. 9. 10.3390/jfmk9010009.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 </a:t>
            </a:r>
            <a:r>
              <a:rPr lang="en-US" sz="1400" dirty="0" err="1"/>
              <a:t>Khugshal</a:t>
            </a:r>
            <a:r>
              <a:rPr lang="en-US" sz="1400" dirty="0"/>
              <a:t>, Dr. (2021). The Need for Gym Exercises and the Imminent Benefits.</a:t>
            </a:r>
          </a:p>
          <a:p>
            <a:pPr marL="342900" indent="-342900">
              <a:buFont typeface="+mj-lt"/>
              <a:buAutoNum type="arabicPeriod"/>
            </a:pPr>
            <a:endParaRPr lang="en-US" sz="1400" dirty="0"/>
          </a:p>
          <a:p>
            <a:pPr marL="342900" indent="-342900">
              <a:buFont typeface="+mj-lt"/>
              <a:buAutoNum type="arabicPeriod"/>
            </a:pPr>
            <a:r>
              <a:rPr lang="en-US" sz="1400" dirty="0" err="1"/>
              <a:t>Krzysztofik</a:t>
            </a:r>
            <a:r>
              <a:rPr lang="en-US" sz="1400" dirty="0"/>
              <a:t>, M., Wilk, M., </a:t>
            </a:r>
            <a:r>
              <a:rPr lang="en-US" sz="1400" dirty="0" err="1"/>
              <a:t>Wojdała</a:t>
            </a:r>
            <a:r>
              <a:rPr lang="en-US" sz="1400" dirty="0"/>
              <a:t>, G., &amp; </a:t>
            </a:r>
            <a:r>
              <a:rPr lang="en-US" sz="1400" dirty="0" err="1"/>
              <a:t>Gołaś</a:t>
            </a:r>
            <a:r>
              <a:rPr lang="en-US" sz="1400" dirty="0"/>
              <a:t>, A. (2019). Maximizing Muscle Hypertrophy: A Systematic Review of Advanced Resistance Training Techniques and Methods. International journal of environmental research and public health, 16(24), 4897. https://doi.org/10.3390/ijerph16244897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7882</TotalTime>
  <Words>1180</Words>
  <Application>Microsoft Office PowerPoint</Application>
  <PresentationFormat>Widescreen</PresentationFormat>
  <Paragraphs>156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6</vt:i4>
      </vt:variant>
    </vt:vector>
  </HeadingPairs>
  <TitlesOfParts>
    <vt:vector size="28" baseType="lpstr">
      <vt:lpstr>Arial</vt:lpstr>
      <vt:lpstr>Calibri</vt:lpstr>
      <vt:lpstr>Garamond</vt:lpstr>
      <vt:lpstr>Nimbus Roman</vt:lpstr>
      <vt:lpstr>Nimbus Sans</vt:lpstr>
      <vt:lpstr>Poppins</vt:lpstr>
      <vt:lpstr>Roboto</vt:lpstr>
      <vt:lpstr>Symbol</vt:lpstr>
      <vt:lpstr>Times New Roman</vt:lpstr>
      <vt:lpstr>TradeGothic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SMART INDIA HACKATHON 2026</vt:lpstr>
      <vt:lpstr>FitVision 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dc:description/>
  <cp:lastModifiedBy>Hemanth Natarajan</cp:lastModifiedBy>
  <cp:revision>157</cp:revision>
  <dcterms:created xsi:type="dcterms:W3CDTF">2013-12-12T18:46:50Z</dcterms:created>
  <dcterms:modified xsi:type="dcterms:W3CDTF">2026-08-30T18:19:04Z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6</vt:r8>
  </property>
  <property fmtid="{D5CDD505-2E9C-101B-9397-08002B2CF9AE}" pid="3" name="PresentationFormat">
    <vt:lpwstr>Widescreen</vt:lpwstr>
  </property>
  <property fmtid="{D5CDD505-2E9C-101B-9397-08002B2CF9AE}" pid="4" name="Slides">
    <vt:r8>7</vt:r8>
  </property>
</Properties>
</file>