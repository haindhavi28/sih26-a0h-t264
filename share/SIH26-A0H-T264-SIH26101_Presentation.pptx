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F4FD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gotkarmayogi.gov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660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4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b="0" i="0" u="none" strike="noStrike" cap="none" dirty="0">
                <a:solidFill>
                  <a:srgbClr val="2D3037"/>
                </a:solidFill>
                <a:latin typeface="Arial"/>
                <a:ea typeface="Arial"/>
                <a:cs typeface="Arial"/>
                <a:sym typeface="Arial"/>
              </a:rPr>
              <a:t>26101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b="0" i="0" u="none" strike="noStrike" cap="none" dirty="0">
                <a:solidFill>
                  <a:srgbClr val="2D3037"/>
                </a:solidFill>
                <a:latin typeface="Arial"/>
                <a:ea typeface="Arial"/>
                <a:cs typeface="Arial"/>
                <a:sym typeface="Arial"/>
              </a:rPr>
              <a:t>AI-Enabled Personalized Learning Platform for Official Statistics through </a:t>
            </a:r>
            <a:r>
              <a:rPr lang="en-US" dirty="0" err="1">
                <a:solidFill>
                  <a:srgbClr val="2D3037"/>
                </a:solidFill>
                <a:latin typeface="Arial"/>
                <a:ea typeface="Arial"/>
                <a:cs typeface="Arial"/>
                <a:sym typeface="Arial"/>
              </a:rPr>
              <a:t>iGOT</a:t>
            </a:r>
            <a:r>
              <a:rPr lang="en-US" b="0" i="0" u="none" strike="noStrike" cap="none" dirty="0">
                <a:solidFill>
                  <a:srgbClr val="2D303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b="0" i="0" u="none" strike="noStrike" cap="none" dirty="0" err="1">
                <a:solidFill>
                  <a:srgbClr val="2D3037"/>
                </a:solidFill>
                <a:latin typeface="Arial"/>
                <a:ea typeface="Arial"/>
                <a:cs typeface="Arial"/>
                <a:sym typeface="Arial"/>
              </a:rPr>
              <a:t>Karmayogi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b="0" i="0" u="none" strike="noStrike" cap="none" dirty="0">
                <a:solidFill>
                  <a:srgbClr val="2D3037"/>
                </a:solidFill>
                <a:latin typeface="Arial"/>
                <a:ea typeface="Arial"/>
                <a:cs typeface="Arial"/>
                <a:sym typeface="Arial"/>
              </a:rPr>
              <a:t>Smart Education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dirty="0">
                <a:solidFill>
                  <a:srgbClr val="2D3037"/>
                </a:solidFill>
              </a:rPr>
              <a:t>SIH26-A0H-T264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US" dirty="0">
                <a:solidFill>
                  <a:srgbClr val="2D3037"/>
                </a:solidFill>
              </a:rPr>
              <a:t>Penguin.exe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 err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GyanSetu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01237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Penguin.exe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4" name="Picture 6" descr="image.png">
            <a:extLst>
              <a:ext uri="{FF2B5EF4-FFF2-40B4-BE49-F238E27FC236}">
                <a16:creationId xmlns:a16="http://schemas.microsoft.com/office/drawing/2014/main" id="{C7D786B7-3D9E-4836-8AAB-4FC58CC9ED8C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464854" y="1311826"/>
            <a:ext cx="3754585" cy="480021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TextBox 21">
            <a:extLst>
              <a:ext uri="{FF2B5EF4-FFF2-40B4-BE49-F238E27FC236}">
                <a16:creationId xmlns:a16="http://schemas.microsoft.com/office/drawing/2014/main" id="{AA948287-4DAA-45F6-8A2A-1571EE49631F}"/>
              </a:ext>
            </a:extLst>
          </p:cNvPr>
          <p:cNvSpPr/>
          <p:nvPr/>
        </p:nvSpPr>
        <p:spPr>
          <a:xfrm>
            <a:off x="1490370" y="1440387"/>
            <a:ext cx="2239560" cy="22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 dirty="0">
                <a:solidFill>
                  <a:srgbClr val="B91C1C"/>
                </a:solidFill>
                <a:effectLst/>
                <a:uFillTx/>
                <a:latin typeface="Poppins"/>
              </a:rPr>
              <a:t>Problem at Hand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16" name="Rectangle 22">
            <a:extLst>
              <a:ext uri="{FF2B5EF4-FFF2-40B4-BE49-F238E27FC236}">
                <a16:creationId xmlns:a16="http://schemas.microsoft.com/office/drawing/2014/main" id="{FE7694B8-BDB1-4C82-B7D6-0A39FAE04AAE}"/>
              </a:ext>
            </a:extLst>
          </p:cNvPr>
          <p:cNvSpPr/>
          <p:nvPr/>
        </p:nvSpPr>
        <p:spPr>
          <a:xfrm>
            <a:off x="1142266" y="1781887"/>
            <a:ext cx="2399760" cy="18360"/>
          </a:xfrm>
          <a:prstGeom prst="rect">
            <a:avLst/>
          </a:prstGeom>
          <a:solidFill>
            <a:srgbClr val="FCA5A5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" name="Picture 15" descr="image.png">
            <a:extLst>
              <a:ext uri="{FF2B5EF4-FFF2-40B4-BE49-F238E27FC236}">
                <a16:creationId xmlns:a16="http://schemas.microsoft.com/office/drawing/2014/main" id="{DF0A6618-8600-4C1A-AF28-E734AD9F4877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8570634" y="1544115"/>
            <a:ext cx="3338029" cy="945307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Picture 15" descr="image.png">
            <a:extLst>
              <a:ext uri="{FF2B5EF4-FFF2-40B4-BE49-F238E27FC236}">
                <a16:creationId xmlns:a16="http://schemas.microsoft.com/office/drawing/2014/main" id="{2F4A4B49-DE8B-4D58-ADE9-4584265AA94D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8578286" y="2670976"/>
            <a:ext cx="3363536" cy="908619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DCD66812-D4C4-4578-8EE8-EAA8B5F2C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816" y="3593203"/>
            <a:ext cx="361562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Picture 7" descr="image.png">
            <a:extLst>
              <a:ext uri="{FF2B5EF4-FFF2-40B4-BE49-F238E27FC236}">
                <a16:creationId xmlns:a16="http://schemas.microsoft.com/office/drawing/2014/main" id="{8B5D6967-9DBB-4C0A-9EFF-2AD3241D2380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4358401" y="1311825"/>
            <a:ext cx="3918250" cy="480021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TextBox 23">
            <a:extLst>
              <a:ext uri="{FF2B5EF4-FFF2-40B4-BE49-F238E27FC236}">
                <a16:creationId xmlns:a16="http://schemas.microsoft.com/office/drawing/2014/main" id="{9A35767B-39E1-4BA1-B9E4-C7DB37B8A05F}"/>
              </a:ext>
            </a:extLst>
          </p:cNvPr>
          <p:cNvSpPr/>
          <p:nvPr/>
        </p:nvSpPr>
        <p:spPr>
          <a:xfrm>
            <a:off x="5821185" y="1440387"/>
            <a:ext cx="2239560" cy="22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 dirty="0">
                <a:solidFill>
                  <a:srgbClr val="15803D"/>
                </a:solidFill>
                <a:effectLst/>
                <a:uFillTx/>
                <a:latin typeface="Poppins"/>
              </a:rPr>
              <a:t>Outcome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22" name="Rectangle 24">
            <a:extLst>
              <a:ext uri="{FF2B5EF4-FFF2-40B4-BE49-F238E27FC236}">
                <a16:creationId xmlns:a16="http://schemas.microsoft.com/office/drawing/2014/main" id="{6238028B-F933-4357-8A2A-DC1E3DA2AF93}"/>
              </a:ext>
            </a:extLst>
          </p:cNvPr>
          <p:cNvSpPr/>
          <p:nvPr/>
        </p:nvSpPr>
        <p:spPr>
          <a:xfrm>
            <a:off x="5117646" y="1763527"/>
            <a:ext cx="2399760" cy="18360"/>
          </a:xfrm>
          <a:prstGeom prst="rect">
            <a:avLst/>
          </a:prstGeom>
          <a:solidFill>
            <a:srgbClr val="86EFAC"/>
          </a:solidFill>
          <a:ln w="9360"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ctr">
            <a:noAutofit/>
          </a:bodyPr>
          <a:lstStyle/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0C7F655-6E0B-44B6-8F40-957FEFE08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791D76-2ABA-42AF-B577-481D902E7B19}"/>
              </a:ext>
            </a:extLst>
          </p:cNvPr>
          <p:cNvSpPr txBox="1"/>
          <p:nvPr/>
        </p:nvSpPr>
        <p:spPr>
          <a:xfrm>
            <a:off x="523971" y="1885082"/>
            <a:ext cx="369546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Generic Training: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Officials get the same static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iGOT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course list, with no matching to their actual role or skill level.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Invisible Skill Gaps: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structured way exists to assess what an official already knows versus what their job actually requires.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Unverified Learning: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Course completion doesn't confirm real understanding — there's no built-in way to test if the skill was actually gained.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27F654B-0D19-46C6-B854-B0054C525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0B4618-ECBE-4996-8DCE-3BF8B0619A54}"/>
              </a:ext>
            </a:extLst>
          </p:cNvPr>
          <p:cNvSpPr txBox="1"/>
          <p:nvPr/>
        </p:nvSpPr>
        <p:spPr>
          <a:xfrm>
            <a:off x="4469406" y="1868314"/>
            <a:ext cx="359133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Personalized Pathways: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matches each official's profile to the exact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iGOT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/TPAC course needed to close their specific gap.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Verified Competency: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Auto-generated quizzes from any uploaded material instantly confirm real understanding, not just attendance.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Data-Driven Workforce: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Admins get org-wide visibility into skill gaps and training effectiveness for smarter planning. </a:t>
            </a: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C271515E-DEBB-48C4-A328-A8624A061ED2}"/>
              </a:ext>
            </a:extLst>
          </p:cNvPr>
          <p:cNvSpPr/>
          <p:nvPr/>
        </p:nvSpPr>
        <p:spPr>
          <a:xfrm>
            <a:off x="8535000" y="1143000"/>
            <a:ext cx="275976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 dirty="0">
                <a:solidFill>
                  <a:srgbClr val="0284C7"/>
                </a:solidFill>
                <a:effectLst/>
                <a:uFillTx/>
                <a:latin typeface="Poppins"/>
              </a:rPr>
              <a:t>Why We Stand Out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Nimbus San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2C3AB6-55A0-4A23-815A-31A929EE7D17}"/>
              </a:ext>
            </a:extLst>
          </p:cNvPr>
          <p:cNvSpPr txBox="1"/>
          <p:nvPr/>
        </p:nvSpPr>
        <p:spPr>
          <a:xfrm>
            <a:off x="8578286" y="1639656"/>
            <a:ext cx="353232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Explainable Recommendations</a:t>
            </a:r>
            <a:br>
              <a:rPr lang="en-US" sz="1400" dirty="0"/>
            </a:br>
            <a:r>
              <a:rPr lang="en-US" sz="1400" dirty="0"/>
              <a:t>Every course suggestion comes with a plain-language reason, not a black-box AI match.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ABC4DE-6287-4430-8B41-FB43D959465D}"/>
              </a:ext>
            </a:extLst>
          </p:cNvPr>
          <p:cNvSpPr txBox="1"/>
          <p:nvPr/>
        </p:nvSpPr>
        <p:spPr>
          <a:xfrm>
            <a:off x="8646300" y="2637222"/>
            <a:ext cx="32623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Hallucination-Free Quizzes</a:t>
            </a:r>
            <a:br>
              <a:rPr lang="en-US" sz="1400" dirty="0"/>
            </a:br>
            <a:r>
              <a:rPr lang="en-US" sz="1400" dirty="0"/>
              <a:t>Questions are RAG-grounded strictly to uploaded content, with trainer approval before publishing.</a:t>
            </a:r>
          </a:p>
        </p:txBody>
      </p:sp>
      <p:pic>
        <p:nvPicPr>
          <p:cNvPr id="34" name="Picture 15" descr="image.png">
            <a:extLst>
              <a:ext uri="{FF2B5EF4-FFF2-40B4-BE49-F238E27FC236}">
                <a16:creationId xmlns:a16="http://schemas.microsoft.com/office/drawing/2014/main" id="{BAE621E5-5414-4E5A-8D9F-F568350475A0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8578286" y="3677153"/>
            <a:ext cx="3363536" cy="945307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Picture 15" descr="image.png">
            <a:extLst>
              <a:ext uri="{FF2B5EF4-FFF2-40B4-BE49-F238E27FC236}">
                <a16:creationId xmlns:a16="http://schemas.microsoft.com/office/drawing/2014/main" id="{5CBD6B37-A097-4102-ACFD-93806F7CFCA7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8565227" y="4736960"/>
            <a:ext cx="3363536" cy="110134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F3A9DD41-1104-4D46-99DA-F489BCAA5AEB}"/>
              </a:ext>
            </a:extLst>
          </p:cNvPr>
          <p:cNvSpPr txBox="1"/>
          <p:nvPr/>
        </p:nvSpPr>
        <p:spPr>
          <a:xfrm>
            <a:off x="8666399" y="3652122"/>
            <a:ext cx="32623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Career-Linked Learning</a:t>
            </a:r>
            <a:br>
              <a:rPr lang="en-US" sz="1400" dirty="0"/>
            </a:br>
            <a:r>
              <a:rPr lang="en-US" sz="1400" dirty="0"/>
              <a:t>Shows how each completed course moves an official toward promotion-readiness, not just a certificate.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7D4E5CA-365E-486B-B965-9FC7044DE6FC}"/>
              </a:ext>
            </a:extLst>
          </p:cNvPr>
          <p:cNvSpPr txBox="1"/>
          <p:nvPr/>
        </p:nvSpPr>
        <p:spPr>
          <a:xfrm>
            <a:off x="8620029" y="4786890"/>
            <a:ext cx="322945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Data-Sovereign AI</a:t>
            </a:r>
            <a:br>
              <a:rPr lang="en-US" sz="1400" dirty="0"/>
            </a:br>
            <a:r>
              <a:rPr lang="en-US" sz="1400" dirty="0"/>
              <a:t>Self-hosted open-source models keep sensitive government data fully within government infrastructure.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43304"/>
            <a:ext cx="12191999" cy="31469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17000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20" name="Picture 17419">
            <a:extLst>
              <a:ext uri="{FF2B5EF4-FFF2-40B4-BE49-F238E27FC236}">
                <a16:creationId xmlns:a16="http://schemas.microsoft.com/office/drawing/2014/main" id="{60410BCE-DB9F-438E-779B-9F60D170C1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487" b="5846"/>
          <a:stretch>
            <a:fillRect/>
          </a:stretch>
        </p:blipFill>
        <p:spPr>
          <a:xfrm>
            <a:off x="194306" y="1204655"/>
            <a:ext cx="7927097" cy="5177440"/>
          </a:xfrm>
          <a:prstGeom prst="rect">
            <a:avLst/>
          </a:prstGeom>
        </p:spPr>
      </p:pic>
      <p:sp>
        <p:nvSpPr>
          <p:cNvPr id="17422" name="Oval 17421" descr="Your startup LOGO">
            <a:extLst>
              <a:ext uri="{FF2B5EF4-FFF2-40B4-BE49-F238E27FC236}">
                <a16:creationId xmlns:a16="http://schemas.microsoft.com/office/drawing/2014/main" id="{571CF424-FBD6-FCCF-157A-1A71F332C1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01237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Penguin.exe</a:t>
            </a:r>
            <a:endParaRPr lang="en-IN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6C233D-6976-47F9-A0A3-C23EB27915D2}"/>
              </a:ext>
            </a:extLst>
          </p:cNvPr>
          <p:cNvSpPr txBox="1"/>
          <p:nvPr/>
        </p:nvSpPr>
        <p:spPr>
          <a:xfrm>
            <a:off x="9490594" y="1091797"/>
            <a:ext cx="1173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Tech Stack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A675D4-C4C1-4817-8DE4-C27F30DC86C3}"/>
              </a:ext>
            </a:extLst>
          </p:cNvPr>
          <p:cNvSpPr/>
          <p:nvPr/>
        </p:nvSpPr>
        <p:spPr>
          <a:xfrm>
            <a:off x="8204200" y="1566333"/>
            <a:ext cx="3825736" cy="481576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0F7194-8124-4065-AEDC-65D26DA8ECFB}"/>
              </a:ext>
            </a:extLst>
          </p:cNvPr>
          <p:cNvSpPr txBox="1"/>
          <p:nvPr/>
        </p:nvSpPr>
        <p:spPr>
          <a:xfrm>
            <a:off x="8288268" y="1638198"/>
            <a:ext cx="36576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React.js / Next.js — Frontend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FastAPI</a:t>
            </a:r>
            <a:r>
              <a:rPr lang="en-US" sz="1600" dirty="0"/>
              <a:t> — Backend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spaCy</a:t>
            </a:r>
            <a:r>
              <a:rPr lang="en-US" sz="1600" dirty="0"/>
              <a:t> + Sentence-Transformers — NLP &amp; embeddings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Scikit-learn — ML / skill-gap prediction &amp; clustering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Llama 3 / Mistral — LLM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Whisper — Video speech-to-text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Docker + Kubernetes — Deployment &amp; scalability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Kafka — Asynchronous </a:t>
            </a:r>
            <a:r>
              <a:rPr lang="en-US" sz="1600" dirty="0" err="1"/>
              <a:t>iGOT</a:t>
            </a:r>
            <a:r>
              <a:rPr lang="en-US" sz="1600" dirty="0"/>
              <a:t> synchronization / jobs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Prometheus + Grafana —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72179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82929" y="648836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05A1BB6-6168-4E83-A230-DA1C9AF573D6}"/>
              </a:ext>
            </a:extLst>
          </p:cNvPr>
          <p:cNvSpPr/>
          <p:nvPr/>
        </p:nvSpPr>
        <p:spPr>
          <a:xfrm>
            <a:off x="152400" y="1490133"/>
            <a:ext cx="3606800" cy="4487334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CE0F17-1715-4BA0-9E1E-D7E5C7A39A20}"/>
              </a:ext>
            </a:extLst>
          </p:cNvPr>
          <p:cNvSpPr/>
          <p:nvPr/>
        </p:nvSpPr>
        <p:spPr>
          <a:xfrm>
            <a:off x="3999267" y="1490133"/>
            <a:ext cx="3705400" cy="4487334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0290FE-716A-4C5D-96BD-912540584F14}"/>
              </a:ext>
            </a:extLst>
          </p:cNvPr>
          <p:cNvSpPr/>
          <p:nvPr/>
        </p:nvSpPr>
        <p:spPr>
          <a:xfrm>
            <a:off x="8035986" y="1505379"/>
            <a:ext cx="4003614" cy="4487334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D7CA22-2F00-4C2C-9AF2-93FA9CD86AE8}"/>
              </a:ext>
            </a:extLst>
          </p:cNvPr>
          <p:cNvSpPr txBox="1"/>
          <p:nvPr/>
        </p:nvSpPr>
        <p:spPr>
          <a:xfrm>
            <a:off x="651597" y="1102681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Analysis of Feasibility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E0B237-7A73-48F7-84C6-B3AE328D2F75}"/>
              </a:ext>
            </a:extLst>
          </p:cNvPr>
          <p:cNvSpPr txBox="1"/>
          <p:nvPr/>
        </p:nvSpPr>
        <p:spPr>
          <a:xfrm>
            <a:off x="4051518" y="1087435"/>
            <a:ext cx="3608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Potential Challenges and Risks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0FD88A-D7B1-4214-898C-59A7899FF5FC}"/>
              </a:ext>
            </a:extLst>
          </p:cNvPr>
          <p:cNvSpPr txBox="1"/>
          <p:nvPr/>
        </p:nvSpPr>
        <p:spPr>
          <a:xfrm>
            <a:off x="8034328" y="1094760"/>
            <a:ext cx="3993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Strategies to overcome challenges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3CD6CA-54C0-4C63-BA25-C0E996E70956}"/>
              </a:ext>
            </a:extLst>
          </p:cNvPr>
          <p:cNvSpPr txBox="1"/>
          <p:nvPr/>
        </p:nvSpPr>
        <p:spPr>
          <a:xfrm>
            <a:off x="152400" y="1600335"/>
            <a:ext cx="36068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Mature core tech: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Sentence-embedding and vector search (Sentence-Transformers,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pgvector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are proven, open-source, and run efficiently — no expensive infra needed for an MVP.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iGOT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 already exists: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iGOT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Karmayogi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exposes APIs for course catalogue, enrolment, and completion — we're integrating with a live system, not building one from scratch.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Validated pattern: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AI-driven recommendation and RAG-based quiz generation are proven in ed-tech (Coursera, Duolingo) — the approach is de-risked, not experimental.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Plug-and-play AI: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Self-hosted open-source LLMs (Llama/Mistral via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Ollama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work out-of-the-box — no need to train a custom model. </a:t>
            </a:r>
            <a:endParaRPr lang="en-US" altLang="en-US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Bounded scope with experts: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Competency-framework mapping can be co-developed with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MoSPI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/NSSTA within a known, manageable timeframe.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BEC0FA-B640-45B7-8A72-FA36C0D1A128}"/>
              </a:ext>
            </a:extLst>
          </p:cNvPr>
          <p:cNvSpPr txBox="1"/>
          <p:nvPr/>
        </p:nvSpPr>
        <p:spPr>
          <a:xfrm>
            <a:off x="4130286" y="1513981"/>
            <a:ext cx="3534615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Incomplete profile data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many officials' service/training records are inconsistent across HRMS systems.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Course coverage gaps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iGOT's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catalogue may not cover every niche statistical competency.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quiz reliability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auto-generated MCQs could be inaccurate if not properly grounded in source material.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Digital literacy variance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officials across states/departments differ widely in digital comfort and language.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Integration complexity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two-way sync with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iGOT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non-API sources (NSSTA TPAC) can introduce latency or sync failures.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DA41CA-51D7-4FB6-9886-203DE728C956}"/>
              </a:ext>
            </a:extLst>
          </p:cNvPr>
          <p:cNvSpPr txBox="1"/>
          <p:nvPr/>
        </p:nvSpPr>
        <p:spPr>
          <a:xfrm>
            <a:off x="8098585" y="1287347"/>
            <a:ext cx="37054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NLP-based auto-extraction from existing records, plus a manual verification step to fill and correct gaps.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Maintain an admin-curated fallback list for uncovered competencies, flagged for manual TPAC recommendation.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Ground every quiz question strictly in the uploaded material (RAG) and route through a trainer-approval queue before publishing.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Offer a multilingual UI and assistant (via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Bhashini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with simple onboarding tutorials and micro-learning nudges.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 asynchronous, queue-based syncing (Kafka) with local caching so external system downtime never blocks the user experience. 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BFBD1CF7-0334-DF5F-EB05-D0DEA406C9C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01237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Penguin.exe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1375"/>
            <a:ext cx="12191999" cy="366625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6504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51108" y="6491375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FBE45D-2D42-4100-9BC2-0E27D16AD4BF}"/>
              </a:ext>
            </a:extLst>
          </p:cNvPr>
          <p:cNvSpPr txBox="1"/>
          <p:nvPr/>
        </p:nvSpPr>
        <p:spPr>
          <a:xfrm>
            <a:off x="134983" y="993388"/>
            <a:ext cx="3390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Potential Impact on the Target Audience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627DA9-551E-4579-9E36-57DEF803F647}"/>
              </a:ext>
            </a:extLst>
          </p:cNvPr>
          <p:cNvSpPr/>
          <p:nvPr/>
        </p:nvSpPr>
        <p:spPr>
          <a:xfrm>
            <a:off x="134983" y="1753552"/>
            <a:ext cx="3606800" cy="4487334"/>
          </a:xfrm>
          <a:prstGeom prst="rect">
            <a:avLst/>
          </a:prstGeom>
          <a:noFill/>
          <a:ln w="381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D0AB003-80C4-45C0-BB4A-1795EFF24E72}"/>
              </a:ext>
            </a:extLst>
          </p:cNvPr>
          <p:cNvSpPr/>
          <p:nvPr/>
        </p:nvSpPr>
        <p:spPr>
          <a:xfrm>
            <a:off x="4180115" y="1176914"/>
            <a:ext cx="3131554" cy="24975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Builds a culture of continuous, merit-based learning across the statistical workforce.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Increases officials' confidence and career mobility through verified competency.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7A8A472-22DA-4449-B7CA-52A0413C041C}"/>
              </a:ext>
            </a:extLst>
          </p:cNvPr>
          <p:cNvSpPr/>
          <p:nvPr/>
        </p:nvSpPr>
        <p:spPr>
          <a:xfrm>
            <a:off x="8737560" y="3895614"/>
            <a:ext cx="3131554" cy="24975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Higher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iGOT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Karmayogi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 utilization and course-completion rates.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1200" dirty="0">
              <a:solidFill>
                <a:schemeClr val="bg2"/>
              </a:solidFill>
              <a:latin typeface="Arial" panose="020B060402020202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20204" pitchFamily="34" charset="0"/>
              </a:rPr>
              <a:t>Predictive analytics let administrators plan capacity-building before shortages become critical.</a:t>
            </a:r>
            <a:endParaRPr lang="en-US" sz="1200" dirty="0">
              <a:solidFill>
                <a:schemeClr val="bg2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5C774DF-DE57-458E-9F04-D8220603D214}"/>
              </a:ext>
            </a:extLst>
          </p:cNvPr>
          <p:cNvSpPr/>
          <p:nvPr/>
        </p:nvSpPr>
        <p:spPr>
          <a:xfrm>
            <a:off x="4180115" y="3800253"/>
            <a:ext cx="3131554" cy="249755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Better-trained officials produce higher-quality statistical data, strengthening evidence-based policymaking.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12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Improves compliance with data-quality and digital-governance standards nationwide.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F03871-8453-4DAC-B035-EBA543248167}"/>
              </a:ext>
            </a:extLst>
          </p:cNvPr>
          <p:cNvSpPr txBox="1"/>
          <p:nvPr/>
        </p:nvSpPr>
        <p:spPr>
          <a:xfrm>
            <a:off x="7515501" y="3450646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Benefits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9DDCAF5-96CF-40AD-922F-A134290747CE}"/>
              </a:ext>
            </a:extLst>
          </p:cNvPr>
          <p:cNvCxnSpPr>
            <a:stCxn id="17" idx="1"/>
          </p:cNvCxnSpPr>
          <p:nvPr/>
        </p:nvCxnSpPr>
        <p:spPr>
          <a:xfrm flipH="1" flipV="1">
            <a:off x="7311669" y="2425689"/>
            <a:ext cx="203832" cy="12096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9F33D92-6EDF-4138-90F7-E8CDAEADE17C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8533728" y="2441529"/>
            <a:ext cx="203832" cy="11937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C63E730-0848-4AAD-BC17-04858A9FC8C3}"/>
              </a:ext>
            </a:extLst>
          </p:cNvPr>
          <p:cNvSpPr txBox="1"/>
          <p:nvPr/>
        </p:nvSpPr>
        <p:spPr>
          <a:xfrm rot="4764029">
            <a:off x="7177138" y="278539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social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A0F5BC-CDB3-4965-A77E-E09ED39F2FB8}"/>
              </a:ext>
            </a:extLst>
          </p:cNvPr>
          <p:cNvSpPr txBox="1"/>
          <p:nvPr/>
        </p:nvSpPr>
        <p:spPr>
          <a:xfrm rot="16949781">
            <a:off x="7921453" y="2800651"/>
            <a:ext cx="10615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economic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3AAE7A-6748-4F0D-8ECB-C73DEFA2CD1E}"/>
              </a:ext>
            </a:extLst>
          </p:cNvPr>
          <p:cNvSpPr txBox="1"/>
          <p:nvPr/>
        </p:nvSpPr>
        <p:spPr>
          <a:xfrm rot="16698399">
            <a:off x="7010746" y="4290512"/>
            <a:ext cx="1146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environmental</a:t>
            </a:r>
            <a:endParaRPr lang="en-US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8DDEF9-B665-4238-9927-586D5F453D41}"/>
              </a:ext>
            </a:extLst>
          </p:cNvPr>
          <p:cNvSpPr txBox="1"/>
          <p:nvPr/>
        </p:nvSpPr>
        <p:spPr>
          <a:xfrm rot="15811216">
            <a:off x="8030700" y="426084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health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7CF6CEC-EE04-46C1-A55E-7AC63FA0B025}"/>
              </a:ext>
            </a:extLst>
          </p:cNvPr>
          <p:cNvSpPr/>
          <p:nvPr/>
        </p:nvSpPr>
        <p:spPr>
          <a:xfrm>
            <a:off x="8732318" y="1208594"/>
            <a:ext cx="3236897" cy="246587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 algn="ctr">
              <a:buFont typeface="+mj-lt"/>
              <a:buAutoNum type="arabicPeriod"/>
            </a:pPr>
            <a:r>
              <a:rPr lang="en-US" sz="1200" dirty="0"/>
              <a:t>Cuts training costs by targeting only genuine skill gaps instead of blanket training </a:t>
            </a:r>
            <a:r>
              <a:rPr lang="en-US" sz="1200" dirty="0" err="1"/>
              <a:t>programme</a:t>
            </a:r>
            <a:r>
              <a:rPr lang="en-US" sz="1200" dirty="0"/>
              <a:t>.</a:t>
            </a:r>
          </a:p>
          <a:p>
            <a:pPr marL="228600" indent="-228600" algn="ctr">
              <a:buFont typeface="+mj-lt"/>
              <a:buAutoNum type="arabicPeriod"/>
            </a:pPr>
            <a:endParaRPr lang="en-US" sz="1200" dirty="0"/>
          </a:p>
          <a:p>
            <a:pPr marL="228600" indent="-228600" algn="ctr">
              <a:buFont typeface="+mj-lt"/>
              <a:buAutoNum type="arabicPeriod"/>
            </a:pPr>
            <a:r>
              <a:rPr lang="en-US" sz="1200" dirty="0"/>
              <a:t>Reduces time-to-competency, so officials become productive in new roles/technologies faster.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9F11B9A-17E5-4CB9-8F81-EAEFBBFF2D1D}"/>
              </a:ext>
            </a:extLst>
          </p:cNvPr>
          <p:cNvCxnSpPr/>
          <p:nvPr/>
        </p:nvCxnSpPr>
        <p:spPr>
          <a:xfrm flipH="1">
            <a:off x="7311669" y="3635312"/>
            <a:ext cx="203832" cy="14137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5C06F2-A92A-40B7-8001-9BD3211AD83A}"/>
              </a:ext>
            </a:extLst>
          </p:cNvPr>
          <p:cNvCxnSpPr/>
          <p:nvPr/>
        </p:nvCxnSpPr>
        <p:spPr>
          <a:xfrm>
            <a:off x="8533728" y="3635312"/>
            <a:ext cx="203832" cy="15090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35F27A9-5BAE-432B-90F4-4FA7EB430C0A}"/>
              </a:ext>
            </a:extLst>
          </p:cNvPr>
          <p:cNvSpPr txBox="1"/>
          <p:nvPr/>
        </p:nvSpPr>
        <p:spPr>
          <a:xfrm>
            <a:off x="134983" y="1650120"/>
            <a:ext cx="353132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Gives every official a personalized learning path instead of generic, one-size-fits-all courses.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Makes skill-gap identification instant and objective, removing guesswork from training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Builds consistency through progress tracking and AI-driven nudges, reducing course drop-off.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Empowers officials in smaller/remote offices with the same quality of guided learning as those in major departments.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Gives administrators real-time, org-wide visibility into workforce competency for smarter planning. 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BE6D12AD-82C6-D65F-26B4-305B1B3449A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01237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Penguin.exe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13800" y="6423818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529DD1-A44C-4218-99B0-36A1BED79E92}"/>
              </a:ext>
            </a:extLst>
          </p:cNvPr>
          <p:cNvSpPr txBox="1"/>
          <p:nvPr/>
        </p:nvSpPr>
        <p:spPr>
          <a:xfrm>
            <a:off x="3048000" y="1095375"/>
            <a:ext cx="60960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Government of India, Department of Personnel &amp; Training. (2026). </a:t>
            </a:r>
            <a:r>
              <a:rPr lang="en-US" sz="1600" dirty="0" err="1"/>
              <a:t>Karmayogi</a:t>
            </a:r>
            <a:r>
              <a:rPr lang="en-US" sz="1600" dirty="0"/>
              <a:t> Classroom: AI-driven capacity building on the </a:t>
            </a:r>
            <a:r>
              <a:rPr lang="en-US" sz="1600" dirty="0" err="1"/>
              <a:t>iGOT</a:t>
            </a:r>
            <a:r>
              <a:rPr lang="en-US" sz="1600" dirty="0"/>
              <a:t> </a:t>
            </a:r>
            <a:r>
              <a:rPr lang="en-US" sz="1600" dirty="0" err="1"/>
              <a:t>Karmayogi</a:t>
            </a:r>
            <a:r>
              <a:rPr lang="en-US" sz="1600" dirty="0"/>
              <a:t> platform — official launch of AI </a:t>
            </a:r>
            <a:r>
              <a:rPr lang="en-US" sz="1600" dirty="0" err="1"/>
              <a:t>Saarthi</a:t>
            </a:r>
            <a:r>
              <a:rPr lang="en-US" sz="1600" dirty="0"/>
              <a:t>, AI Tutor, and AI-based Capacity Building Plans, confirming the government's own roadmap toward AI-personalized civil service training.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Zhang, X., Liu, S., &amp; Wang, H. (2023). Personalized Learning Path Recommendation for E-Learning Based on Knowledge Graph and Graph Convolutional Network. </a:t>
            </a:r>
            <a:r>
              <a:rPr lang="en-US" sz="1600" i="1" dirty="0"/>
              <a:t>International Journal of Software Engineering &amp; Knowledge Engineering</a:t>
            </a:r>
            <a:r>
              <a:rPr lang="en-US" sz="1600" dirty="0"/>
              <a:t>, 33(1), 109.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National </a:t>
            </a:r>
            <a:r>
              <a:rPr lang="en-US" sz="1600" dirty="0" err="1"/>
              <a:t>Programme</a:t>
            </a:r>
            <a:r>
              <a:rPr lang="en-US" sz="1600" dirty="0"/>
              <a:t> for Civil Services Capacity Building (Mission </a:t>
            </a:r>
            <a:r>
              <a:rPr lang="en-US" sz="1600" dirty="0" err="1"/>
              <a:t>Karmayogi</a:t>
            </a:r>
            <a:r>
              <a:rPr lang="en-US" sz="1600" dirty="0"/>
              <a:t>) — Policy Framework Document, Government of India, approved 2nd September 2020; </a:t>
            </a:r>
            <a:r>
              <a:rPr lang="en-US" sz="1600" dirty="0" err="1"/>
              <a:t>iGOT</a:t>
            </a:r>
            <a:r>
              <a:rPr lang="en-US" sz="1600" dirty="0"/>
              <a:t> </a:t>
            </a:r>
            <a:r>
              <a:rPr lang="en-US" sz="1600" dirty="0" err="1"/>
              <a:t>Karmayogi</a:t>
            </a:r>
            <a:r>
              <a:rPr lang="en-US" sz="1600" dirty="0"/>
              <a:t> platform (</a:t>
            </a:r>
            <a:r>
              <a:rPr lang="en-US" sz="1600" dirty="0">
                <a:hlinkClick r:id="rId4"/>
              </a:rPr>
              <a:t>https://igotkarmayogi.gov.in</a:t>
            </a:r>
            <a:r>
              <a:rPr lang="en-US" sz="1600" dirty="0"/>
              <a:t>).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Hukkeri</a:t>
            </a:r>
            <a:r>
              <a:rPr lang="en-US" sz="1600" dirty="0"/>
              <a:t>, G. S., &amp; </a:t>
            </a:r>
            <a:r>
              <a:rPr lang="en-US" sz="1600" dirty="0" err="1"/>
              <a:t>Goudar</a:t>
            </a:r>
            <a:r>
              <a:rPr lang="en-US" sz="1600" dirty="0"/>
              <a:t>, R. H. (2022). Machine Learning-Based Personalized Recommendation System for E-Learners. </a:t>
            </a:r>
            <a:r>
              <a:rPr lang="en-US" sz="1600" i="1" dirty="0"/>
              <a:t>IEEE Conference Proceedings</a:t>
            </a:r>
            <a:r>
              <a:rPr lang="en-US" sz="1600" dirty="0"/>
              <a:t>.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900EFC94-7D27-0D7A-41EB-9160DAB2B9D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201237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Penguin.exe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7754</TotalTime>
  <Words>1026</Words>
  <Application>Microsoft Office PowerPoint</Application>
  <PresentationFormat>Widescreen</PresentationFormat>
  <Paragraphs>129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Nimbus Sans</vt:lpstr>
      <vt:lpstr>Poppins</vt:lpstr>
      <vt:lpstr>Times New Roman</vt:lpstr>
      <vt:lpstr>TradeGothic</vt:lpstr>
      <vt:lpstr>Office Theme</vt:lpstr>
      <vt:lpstr>SMART INDIA HACKATHON 2026</vt:lpstr>
      <vt:lpstr>GyanSetu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admin</cp:lastModifiedBy>
  <cp:revision>162</cp:revision>
  <dcterms:created xsi:type="dcterms:W3CDTF">2013-12-12T18:46:50Z</dcterms:created>
  <dcterms:modified xsi:type="dcterms:W3CDTF">2026-09-17T12:13:24Z</dcterms:modified>
  <cp:category/>
</cp:coreProperties>
</file>